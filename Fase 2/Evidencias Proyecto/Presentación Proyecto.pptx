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965" autoAdjust="0"/>
  </p:normalViewPr>
  <p:slideViewPr>
    <p:cSldViewPr snapToGrid="0">
      <p:cViewPr varScale="1">
        <p:scale>
          <a:sx n="61" d="100"/>
          <a:sy n="61" d="100"/>
        </p:scale>
        <p:origin x="24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DED6B1D-8E2D-4072-AAAF-14B5B72FF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5E342BF-4C7E-4C9C-9BC0-61EC666CC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A4FB60-F26E-4C28-8509-EB21C41D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C2F0ED2-872F-4C5B-A9CD-8147C3A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13E5FC4-7FDA-447F-893B-0CC81073E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9B87CA6-7668-437A-B1E6-8C39AF43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13B909-0CB3-473B-9D30-4090910F9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FDCA7EC-E53E-4AD0-989D-4D8582CED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3D5B5D4-03E6-45C1-9394-B61FCC2A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DE0C63C-CBD8-46DA-B267-60327AE90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46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113F4B0-76F0-4A9C-9E4F-35F657A1C28B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F0F0F3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A2DDD5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0F0F3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8C8988-6663-46BA-8901-71E28B1BC4EE}"/>
              </a:ext>
            </a:extLst>
          </p:cNvPr>
          <p:cNvSpPr>
            <a:spLocks noGrp="1"/>
          </p:cNvSpPr>
          <p:nvPr/>
        </p:nvSpPr>
        <p:spPr>
          <a:xfrm>
            <a:off x="723900" y="1028700"/>
            <a:ext cx="107442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7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7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Kinetia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4D5DD39-891E-41E9-AA27-40181DE236F0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F0F0F3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300" b="0">
                <a:solidFill>
                  <a:srgbClr val="A2DDD5"/>
                </a:solidFill>
                <a:latin typeface="Nimbus Sans"/>
                <a:ea typeface="Nimbus Sans"/>
                <a:cs typeface="Nimbus Sans"/>
              </a:defRPr>
            </a:pPr>
            <a:r>
              <a:rPr sz="3300" b="0">
                <a:solidFill>
                  <a:srgbClr val="F0F0F3"/>
                </a:solidFill>
                <a:latin typeface="Nimbus Sans"/>
                <a:ea typeface="Nimbus Sans"/>
                <a:cs typeface="Nimbus Sans"/>
              </a:rPr>
              <a:t>Avance de Fase 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DA0172-B768-469E-9FD4-C7FFFFFD33D2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10287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85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Rutinas guiadas para complementar</a:t>
            </a:r>
          </a:p>
          <a:p>
            <a:pPr algn="l">
              <a:buNone/>
              <a:defRPr sz="285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la práctica del baile urbano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334B066-4D28-443A-A47B-E83BA7D6D6E3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9906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Karla Acuña Bravo</a:t>
            </a:r>
          </a:p>
          <a:p>
            <a:pPr algn="l">
              <a:buNone/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Ingeniería en Informática, Duoc UC Maipú</a:t>
            </a:r>
          </a:p>
          <a:p>
            <a:pPr algn="l">
              <a:buNone/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13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46654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5201293-DF9C-4782-ADDB-6B3CD0052A93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122C3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Alcance de Kinetia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3792E73-8EAE-41A7-B3DD-AA14FB5EB229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2F5863F-CA98-460F-8416-F2A8D8868D86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0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A quién está dirigida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F1DDA6-FAB4-44E3-A3B2-186746BEC4EB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857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Personas mayores de 18 años</a:t>
            </a:r>
          </a:p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que practican baile urbano.</a:t>
            </a:r>
          </a:p>
          <a:p>
            <a:endParaRPr sz="2325" b="0">
              <a:solidFill>
                <a:srgbClr val="000000"/>
              </a:solidFill>
              <a:latin typeface="Nimbus Sans"/>
              <a:ea typeface="Nimbus Sans"/>
              <a:cs typeface="Nimbus Sans"/>
            </a:endParaRPr>
          </a:p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Nivel principiante o intermedio.</a:t>
            </a:r>
          </a:p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Peso corporal o una mancuerna.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B97048A-97B7-42FD-B9D6-8EB8739EBCEA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50673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0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Qué busca complementar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B48FB0B-4C96-4D96-AC4E-1EC53A052F20}"/>
              </a:ext>
            </a:extLst>
          </p:cNvPr>
          <p:cNvSpPr>
            <a:spLocks noGrp="1"/>
          </p:cNvSpPr>
          <p:nvPr/>
        </p:nvSpPr>
        <p:spPr>
          <a:xfrm>
            <a:off x="6400800" y="2400300"/>
            <a:ext cx="50673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Fuerza de piernas y control</a:t>
            </a:r>
          </a:p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del tronco y la pelvis.</a:t>
            </a:r>
          </a:p>
          <a:p>
            <a:endParaRPr sz="2325" b="0">
              <a:solidFill>
                <a:srgbClr val="000000"/>
              </a:solidFill>
              <a:latin typeface="Nimbus Sans"/>
              <a:ea typeface="Nimbus Sans"/>
              <a:cs typeface="Nimbus Sans"/>
            </a:endParaRPr>
          </a:p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Rutinas de 20, 30 o 40 minutos,</a:t>
            </a:r>
          </a:p>
          <a:p>
            <a:pPr algn="l">
              <a:buNone/>
              <a:defRPr sz="23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con duraciones referenciales.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5C9C87-55BB-4016-9657-9481EE50432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744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1875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Fuera del alcance: enseñar pasos, evaluar automáticamente la técnica,</a:t>
            </a:r>
          </a:p>
          <a:p>
            <a:pPr algn="l">
              <a:buNone/>
              <a:defRPr sz="1875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diagnosticar o rehabilitar. Excluye lesiones y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33925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6A53701-7627-475B-93B6-BAE9E8560F24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122C3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Avances que ya pude comprobar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CDB8DE-ED86-4636-8343-2634CE7DF6B1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A6908D-5B2D-46E9-AE3E-116AC8E480DA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2714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Catálogo y fichas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95F26C4-2057-4EA6-96D6-25F1786F3A5C}"/>
              </a:ext>
            </a:extLst>
          </p:cNvPr>
          <p:cNvSpPr>
            <a:spLocks noGrp="1"/>
          </p:cNvSpPr>
          <p:nvPr/>
        </p:nvSpPr>
        <p:spPr>
          <a:xfrm>
            <a:off x="3724275" y="1771650"/>
            <a:ext cx="774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14 ejercicios principales en 8 familias.</a:t>
            </a:r>
          </a:p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Las fichas y las dosis siguen siendo preliminares.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E868A1-C801-4FE1-A276-E4A07F2F951A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2714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Generador de rutinas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ED63A6-D9F0-499C-B348-D9BEC7189392}"/>
              </a:ext>
            </a:extLst>
          </p:cNvPr>
          <p:cNvSpPr>
            <a:spLocks noGrp="1"/>
          </p:cNvSpPr>
          <p:nvPr/>
        </p:nvSpPr>
        <p:spPr>
          <a:xfrm>
            <a:off x="3724275" y="3105150"/>
            <a:ext cx="774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Configuración y visualización en Android.</a:t>
            </a:r>
          </a:p>
          <a:p>
            <a:pPr algn="l">
              <a:buNone/>
              <a:defRPr sz="217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Pruebas de lógica: 50/50 casos y 360/360 combinaciones.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E953A7-E610-4009-A13F-F9A1BC19150D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2714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Perfil persistente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A60F0EC-9FD1-4231-9213-2F4FD32863FE}"/>
              </a:ext>
            </a:extLst>
          </p:cNvPr>
          <p:cNvSpPr>
            <a:spLocks noGrp="1"/>
          </p:cNvSpPr>
          <p:nvPr/>
        </p:nvSpPr>
        <p:spPr>
          <a:xfrm>
            <a:off x="3724275" y="4438650"/>
            <a:ext cx="774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Edad, peso, estatura y nivel con SQLite.</a:t>
            </a:r>
          </a:p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Crear, consultar, editar y eliminar datos.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916D28-8568-4AFF-91E8-72CE7D51678C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0744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18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React Native, Expo y TypeScript para la aplicación móvil</a:t>
            </a:r>
          </a:p>
        </p:txBody>
      </p:sp>
    </p:spTree>
    <p:extLst>
      <p:ext uri="{BB962C8B-B14F-4D97-AF65-F5344CB8AC3E}">
        <p14:creationId xmlns:p14="http://schemas.microsoft.com/office/powerpoint/2010/main" val="165499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D787E8E9-76CB-44EC-BEF7-C3CC4DC8B707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122C3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CRUD del perfil en Android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F32CFF2-E48D-4ED2-B754-82AAF1B44183}"/>
              </a:ext>
            </a:extLst>
          </p:cNvPr>
          <p:cNvSpPr>
            <a:spLocks noGrp="1"/>
          </p:cNvSpPr>
          <p:nvPr/>
        </p:nvSpPr>
        <p:spPr>
          <a:xfrm>
            <a:off x="723900" y="1590675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Guardado: 54 kg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1FF7E0-B6C7-4B9F-854A-A46C02E557AF}"/>
              </a:ext>
            </a:extLst>
          </p:cNvPr>
          <p:cNvSpPr>
            <a:spLocks noGrp="1"/>
          </p:cNvSpPr>
          <p:nvPr/>
        </p:nvSpPr>
        <p:spPr>
          <a:xfrm>
            <a:off x="4552950" y="1590675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Editado: 55 kg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6767BD-0486-4AD3-9D6C-F01FF312EF5B}"/>
              </a:ext>
            </a:extLst>
          </p:cNvPr>
          <p:cNvSpPr>
            <a:spLocks noGrp="1"/>
          </p:cNvSpPr>
          <p:nvPr/>
        </p:nvSpPr>
        <p:spPr>
          <a:xfrm>
            <a:off x="8382000" y="1590675"/>
            <a:ext cx="3086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Perfil eliminado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2383B9-708C-4A80-B949-50BC59FDB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82" t="32967" r="33435" b="24451"/>
          <a:stretch/>
        </p:blipFill>
        <p:spPr>
          <a:xfrm>
            <a:off x="723900" y="2124075"/>
            <a:ext cx="2952750" cy="38622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CF685CD-3A75-417E-AA1D-7CF725B68D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24" t="7324" r="6024" b="37109"/>
          <a:stretch/>
        </p:blipFill>
        <p:spPr>
          <a:xfrm>
            <a:off x="4552950" y="2124075"/>
            <a:ext cx="2952750" cy="383587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EDF963D-E248-45A9-BFD9-2E40991AEF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24" t="21289" r="6024" b="50391"/>
          <a:stretch/>
        </p:blipFill>
        <p:spPr>
          <a:xfrm>
            <a:off x="8382000" y="2124075"/>
            <a:ext cx="2952750" cy="195501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2ECFA9B-C9D6-4755-8FEA-BF8A6EF235E1}"/>
              </a:ext>
            </a:extLst>
          </p:cNvPr>
          <p:cNvSpPr>
            <a:spLocks noGrp="1"/>
          </p:cNvSpPr>
          <p:nvPr/>
        </p:nvSpPr>
        <p:spPr>
          <a:xfrm>
            <a:off x="8382000" y="4448175"/>
            <a:ext cx="30861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0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Después del borrado,</a:t>
            </a:r>
          </a:p>
          <a:p>
            <a:pPr algn="l">
              <a:buNone/>
              <a:defRPr sz="20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la app vuelve a ofrecer</a:t>
            </a:r>
          </a:p>
          <a:p>
            <a:pPr algn="l">
              <a:buNone/>
              <a:defRPr sz="202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«Crear mi perfil».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34E8021-665F-403B-AFE5-59720C658080}"/>
              </a:ext>
            </a:extLst>
          </p:cNvPr>
          <p:cNvSpPr>
            <a:spLocks noGrp="1"/>
          </p:cNvSpPr>
          <p:nvPr/>
        </p:nvSpPr>
        <p:spPr>
          <a:xfrm>
            <a:off x="723900" y="6210300"/>
            <a:ext cx="981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1725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Perfil local con SQLite. Peso y estatura quedan registrados como datos.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AD8201-72EC-4F4B-BB35-C05C2EF4C637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031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038C815-4233-4D59-A1A5-C2187560A050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122C3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Ajustes y aprendizajes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B8C4A5-8409-4BCA-B0D2-98014A019B54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FB9326-CEA2-4FF1-9F49-9CA9ED9A444F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2714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Acoté el proyecto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DB1A4A-C907-4E2B-A455-90E01B057344}"/>
              </a:ext>
            </a:extLst>
          </p:cNvPr>
          <p:cNvSpPr>
            <a:spLocks noGrp="1"/>
          </p:cNvSpPr>
          <p:nvPr/>
        </p:nvSpPr>
        <p:spPr>
          <a:xfrm>
            <a:off x="3724275" y="1771650"/>
            <a:ext cx="774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Concentré la propuesta en complementar el baile</a:t>
            </a:r>
          </a:p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y en el equipamiento disponible.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883043-C801-4764-9AFC-A2192336759F}"/>
              </a:ext>
            </a:extLst>
          </p:cNvPr>
          <p:cNvSpPr>
            <a:spLocks noGrp="1"/>
          </p:cNvSpPr>
          <p:nvPr/>
        </p:nvSpPr>
        <p:spPr>
          <a:xfrm>
            <a:off x="723900" y="3114675"/>
            <a:ext cx="2714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Incorporé el feedback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94EB85-0EBE-42BF-B04E-E305B550F041}"/>
              </a:ext>
            </a:extLst>
          </p:cNvPr>
          <p:cNvSpPr>
            <a:spLocks noGrp="1"/>
          </p:cNvSpPr>
          <p:nvPr/>
        </p:nvSpPr>
        <p:spPr>
          <a:xfrm>
            <a:off x="3724275" y="3114675"/>
            <a:ext cx="774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Agregué los datos del perfil, el CRUD</a:t>
            </a:r>
          </a:p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y una selección experimental mediante IA.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00AF426-67E0-4FA6-B40D-825325AB4339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2714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Trabajé por incrementos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0C5F62F-1DDD-4FC6-8DC9-6D4219D2424E}"/>
              </a:ext>
            </a:extLst>
          </p:cNvPr>
          <p:cNvSpPr>
            <a:spLocks noGrp="1"/>
          </p:cNvSpPr>
          <p:nvPr/>
        </p:nvSpPr>
        <p:spPr>
          <a:xfrm>
            <a:off x="3724275" y="4457700"/>
            <a:ext cx="774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Probé cada parte antes de seguir.</a:t>
            </a:r>
          </a:p>
          <a:p>
            <a:pPr algn="l">
              <a:buNone/>
              <a:defRPr sz="2250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Necesito ordenar mejor las versiones y evidencias.</a:t>
            </a:r>
          </a:p>
        </p:txBody>
      </p:sp>
    </p:spTree>
    <p:extLst>
      <p:ext uri="{BB962C8B-B14F-4D97-AF65-F5344CB8AC3E}">
        <p14:creationId xmlns:p14="http://schemas.microsoft.com/office/powerpoint/2010/main" val="96375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D04D912-67C1-4252-A090-1C5129C468E1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122C3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Cómo incorporé la inteligencia artificial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8884AC-8AC5-4616-8893-B9DAFB62D25C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FAD53CE-BB74-403F-B303-4D78444B1504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685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0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40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641DDA-29FD-4123-AD23-533D47B6286C}"/>
              </a:ext>
            </a:extLst>
          </p:cNvPr>
          <p:cNvSpPr>
            <a:spLocks noGrp="1"/>
          </p:cNvSpPr>
          <p:nvPr/>
        </p:nvSpPr>
        <p:spPr>
          <a:xfrm>
            <a:off x="1733550" y="1752600"/>
            <a:ext cx="9734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00" b="1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El código filtra las opciones compatibles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5645DF-25BA-4287-864F-C6ADF8A64D2E}"/>
              </a:ext>
            </a:extLst>
          </p:cNvPr>
          <p:cNvSpPr>
            <a:spLocks noGrp="1"/>
          </p:cNvSpPr>
          <p:nvPr/>
        </p:nvSpPr>
        <p:spPr>
          <a:xfrm>
            <a:off x="1733550" y="2247900"/>
            <a:ext cx="97345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Revisa nivel, equipamiento y ejercicios a evitar.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C925EE-65F0-4463-884A-C5A473673BD8}"/>
              </a:ext>
            </a:extLst>
          </p:cNvPr>
          <p:cNvSpPr>
            <a:spLocks noGrp="1"/>
          </p:cNvSpPr>
          <p:nvPr/>
        </p:nvSpPr>
        <p:spPr>
          <a:xfrm>
            <a:off x="723900" y="3019425"/>
            <a:ext cx="685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0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40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BF18529-B111-452E-B925-7057707F3BB2}"/>
              </a:ext>
            </a:extLst>
          </p:cNvPr>
          <p:cNvSpPr>
            <a:spLocks noGrp="1"/>
          </p:cNvSpPr>
          <p:nvPr/>
        </p:nvSpPr>
        <p:spPr>
          <a:xfrm>
            <a:off x="1733550" y="3028950"/>
            <a:ext cx="9734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00" b="1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El modelo elige entre las alternativas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CDDE0F-B952-4EC1-B992-C20DC8FB59F3}"/>
              </a:ext>
            </a:extLst>
          </p:cNvPr>
          <p:cNvSpPr>
            <a:spLocks noGrp="1"/>
          </p:cNvSpPr>
          <p:nvPr/>
        </p:nvSpPr>
        <p:spPr>
          <a:xfrm>
            <a:off x="1733550" y="3524250"/>
            <a:ext cx="97345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Aprende de preferencias revisadas para cada comparación.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1CC4E3-F4E4-43BC-A6F2-2557AD94FF2A}"/>
              </a:ext>
            </a:extLst>
          </p:cNvPr>
          <p:cNvSpPr>
            <a:spLocks noGrp="1"/>
          </p:cNvSpPr>
          <p:nvPr/>
        </p:nvSpPr>
        <p:spPr>
          <a:xfrm>
            <a:off x="723900" y="4295775"/>
            <a:ext cx="685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050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4050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45C67A-78BC-4A04-8B47-90BE6BF12257}"/>
              </a:ext>
            </a:extLst>
          </p:cNvPr>
          <p:cNvSpPr>
            <a:spLocks noGrp="1"/>
          </p:cNvSpPr>
          <p:nvPr/>
        </p:nvSpPr>
        <p:spPr>
          <a:xfrm>
            <a:off x="1733550" y="4305300"/>
            <a:ext cx="9734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00" b="1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El código arma la sesión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0BDCA8-3A41-4C7C-BDD7-985D3362CAE0}"/>
              </a:ext>
            </a:extLst>
          </p:cNvPr>
          <p:cNvSpPr>
            <a:spLocks noGrp="1"/>
          </p:cNvSpPr>
          <p:nvPr/>
        </p:nvSpPr>
        <p:spPr>
          <a:xfrm>
            <a:off x="1733550" y="4800600"/>
            <a:ext cx="97345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Conserva las dosis, los descansos y el orden.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1B9E8DE-1FF3-4956-B67A-6803E84DB25F}"/>
              </a:ext>
            </a:extLst>
          </p:cNvPr>
          <p:cNvSpPr>
            <a:spLocks noGrp="1"/>
          </p:cNvSpPr>
          <p:nvPr/>
        </p:nvSpPr>
        <p:spPr>
          <a:xfrm>
            <a:off x="1733550" y="5781675"/>
            <a:ext cx="973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02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Pilotos actuales: K06/K08 y K11/K12</a:t>
            </a:r>
          </a:p>
        </p:txBody>
      </p:sp>
    </p:spTree>
    <p:extLst>
      <p:ext uri="{BB962C8B-B14F-4D97-AF65-F5344CB8AC3E}">
        <p14:creationId xmlns:p14="http://schemas.microsoft.com/office/powerpoint/2010/main" val="2074917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1A0B2E5-1733-4B1C-8483-A2FCCBDCDA7A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122C3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Resultados de los pilotos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D746E05-F131-4AD4-8936-4484B0FFA84B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53ED7-51C8-45BE-8DEE-1EFBF6602DD0}"/>
              </a:ext>
            </a:extLst>
          </p:cNvPr>
          <p:cNvSpPr>
            <a:spLocks noGrp="1"/>
          </p:cNvSpPr>
          <p:nvPr/>
        </p:nvSpPr>
        <p:spPr>
          <a:xfrm>
            <a:off x="723900" y="1514475"/>
            <a:ext cx="10744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Coincidencia con las preferencias revisadas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9D16D80-3136-4550-B84B-AE6EE4D5774B}"/>
              </a:ext>
            </a:extLst>
          </p:cNvPr>
          <p:cNvGraphicFramePr/>
          <p:nvPr/>
        </p:nvGraphicFramePr>
        <p:xfrm>
          <a:off x="723900" y="2124075"/>
          <a:ext cx="10744200" cy="2686050"/>
        </p:xfrm>
        <a:graphic>
          <a:graphicData uri="http://schemas.openxmlformats.org/drawingml/2006/table">
            <a:tbl>
              <a:tblPr firstRow="1"/>
              <a:tblGrid>
                <a:gridCol w="468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Piloto y conjunto</a:t>
                      </a:r>
                    </a:p>
                  </a:txBody>
                  <a:tcPr anchor="ctr">
                    <a:solidFill>
                      <a:srgbClr val="7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Árbol</a:t>
                      </a:r>
                    </a:p>
                  </a:txBody>
                  <a:tcPr anchor="ctr">
                    <a:solidFill>
                      <a:srgbClr val="7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Regla</a:t>
                      </a:r>
                    </a:p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sencilla</a:t>
                      </a:r>
                    </a:p>
                  </a:txBody>
                  <a:tcPr anchor="ctr">
                    <a:solidFill>
                      <a:srgbClr val="7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Generador</a:t>
                      </a:r>
                    </a:p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base</a:t>
                      </a:r>
                    </a:p>
                  </a:txBody>
                  <a:tcPr anchor="ctr">
                    <a:solidFill>
                      <a:srgbClr val="7046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K06/K08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Reserva de 3 casos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700" b="1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700" b="1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700" b="1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K11/K12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 preferencias de desarrollo</a:t>
                      </a:r>
                    </a:p>
                  </a:txBody>
                  <a:tcPr anchor="ctr">
                    <a:solidFill>
                      <a:srgbClr val="F0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700" b="1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10/10</a:t>
                      </a:r>
                    </a:p>
                  </a:txBody>
                  <a:tcPr anchor="ctr">
                    <a:solidFill>
                      <a:srgbClr val="F0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700" b="1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10/10</a:t>
                      </a:r>
                    </a:p>
                  </a:txBody>
                  <a:tcPr anchor="ctr">
                    <a:solidFill>
                      <a:srgbClr val="F0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700" b="1">
                          <a:solidFill>
                            <a:srgbClr val="00000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7/10</a:t>
                      </a:r>
                    </a:p>
                  </a:txBody>
                  <a:tcPr anchor="ctr">
                    <a:solidFill>
                      <a:srgbClr val="F0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1D67DC7B-6EB5-4C71-8BEB-138AC33375DC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10744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02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K11/K12: la reserva de 3 historias sigue pendiente de evaluación.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6598A3B-7CE2-4D6C-B80A-4C6C76FCE25A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744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18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Son muestras pequeñas e hipotéticas, en etapas distintas.</a:t>
            </a:r>
          </a:p>
          <a:p>
            <a:pPr algn="l">
              <a:buNone/>
              <a:defRPr sz="18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Aún no demuestran generalización ni superioridad sobre la regla.</a:t>
            </a:r>
          </a:p>
        </p:txBody>
      </p:sp>
    </p:spTree>
    <p:extLst>
      <p:ext uri="{BB962C8B-B14F-4D97-AF65-F5344CB8AC3E}">
        <p14:creationId xmlns:p14="http://schemas.microsoft.com/office/powerpoint/2010/main" val="137839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1FB0EFD5-7C0E-43E7-B55B-2476225E05A9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122C3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Próximos pasos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44FB086-259F-4F2D-BC71-61C695A48A13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52616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4474F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7E70EBE-7ED3-482A-8EE5-B659E0CD5500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666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22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958ECB8-987F-4946-8C4C-DEE1327D6E80}"/>
              </a:ext>
            </a:extLst>
          </p:cNvPr>
          <p:cNvSpPr>
            <a:spLocks noGrp="1"/>
          </p:cNvSpPr>
          <p:nvPr/>
        </p:nvSpPr>
        <p:spPr>
          <a:xfrm>
            <a:off x="1666875" y="1876425"/>
            <a:ext cx="98012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7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Cerrar Entrenar, Finalizar y el registro de sesiones.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5AD8A3-451F-4FAA-818B-1CA086D03E63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666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22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65767C-1640-4027-BF42-89C892A3F990}"/>
              </a:ext>
            </a:extLst>
          </p:cNvPr>
          <p:cNvSpPr>
            <a:spLocks noGrp="1"/>
          </p:cNvSpPr>
          <p:nvPr/>
        </p:nvSpPr>
        <p:spPr>
          <a:xfrm>
            <a:off x="1666875" y="2905125"/>
            <a:ext cx="98012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7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Evaluar la reserva K11/K12 con el modelo congelado.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3B1606D-BD16-4A37-8795-E16C9A1A89C8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666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22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D143125-157E-437F-991C-339F90616B24}"/>
              </a:ext>
            </a:extLst>
          </p:cNvPr>
          <p:cNvSpPr>
            <a:spLocks noGrp="1"/>
          </p:cNvSpPr>
          <p:nvPr/>
        </p:nvSpPr>
        <p:spPr>
          <a:xfrm>
            <a:off x="1666875" y="3933825"/>
            <a:ext cx="98012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7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Completar diagramas, pruebas y evidencias del código.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0370F48-843A-4519-881C-B82A7FD1CF7C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666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225" b="1">
                <a:solidFill>
                  <a:srgbClr val="146C70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7046B5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9322160-0551-41D4-B1D7-71DDF2E04207}"/>
              </a:ext>
            </a:extLst>
          </p:cNvPr>
          <p:cNvSpPr>
            <a:spLocks noGrp="1"/>
          </p:cNvSpPr>
          <p:nvPr/>
        </p:nvSpPr>
        <p:spPr>
          <a:xfrm>
            <a:off x="1666875" y="4962525"/>
            <a:ext cx="98012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475" b="0">
                <a:solidFill>
                  <a:srgbClr val="243541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Revisar las fichas e incorporar imágenes o GIF.</a:t>
            </a:r>
          </a:p>
        </p:txBody>
      </p:sp>
    </p:spTree>
    <p:extLst>
      <p:ext uri="{BB962C8B-B14F-4D97-AF65-F5344CB8AC3E}">
        <p14:creationId xmlns:p14="http://schemas.microsoft.com/office/powerpoint/2010/main" val="98794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46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90E1284-519E-4340-A7BF-9502B049F26B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Preguntas para orientar el siguiente avance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B55812-879F-47C2-B07D-154A7F09C65D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F0F0F3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r">
              <a:buNone/>
              <a:defRPr sz="1500" b="0">
                <a:solidFill>
                  <a:srgbClr val="A2DDD5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0F0F3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9D87C1-28D6-45D2-B046-1A136A8050BB}"/>
              </a:ext>
            </a:extLst>
          </p:cNvPr>
          <p:cNvSpPr>
            <a:spLocks noGrp="1"/>
          </p:cNvSpPr>
          <p:nvPr/>
        </p:nvSpPr>
        <p:spPr>
          <a:xfrm>
            <a:off x="723900" y="1762125"/>
            <a:ext cx="10744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0F0F3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1">
                <a:solidFill>
                  <a:srgbClr val="A2DDD5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0F0F3"/>
                </a:solidFill>
                <a:latin typeface="Nimbus Sans"/>
                <a:ea typeface="Nimbus Sans"/>
                <a:cs typeface="Nimbus Sans"/>
              </a:rPr>
              <a:t>IA e innovación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F7745DC-ECE7-4034-9CA6-84D0543A4B35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10744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¿Este enfoque de selección aprendida cumple lo esperado?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13DF70-766A-4556-822D-CAFC0FA73C82}"/>
              </a:ext>
            </a:extLst>
          </p:cNvPr>
          <p:cNvSpPr>
            <a:spLocks noGrp="1"/>
          </p:cNvSpPr>
          <p:nvPr/>
        </p:nvSpPr>
        <p:spPr>
          <a:xfrm>
            <a:off x="723900" y="3267075"/>
            <a:ext cx="10744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0F0F3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1">
                <a:solidFill>
                  <a:srgbClr val="A2DDD5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0F0F3"/>
                </a:solidFill>
                <a:latin typeface="Nimbus Sans"/>
                <a:ea typeface="Nimbus Sans"/>
                <a:cs typeface="Nimbus Sans"/>
              </a:rPr>
              <a:t>Próxima demostración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FDC1219-1A13-417A-B2AB-585F6A054F1C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744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¿Qué recorrido y qué evidencia del modelo debería priorizar?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118D731-E323-4617-A8E7-1BA4C5ED4F35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10744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0F0F3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175" b="1">
                <a:solidFill>
                  <a:srgbClr val="A2DDD5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0F0F3"/>
                </a:solidFill>
                <a:latin typeface="Nimbus Sans"/>
                <a:ea typeface="Nimbus Sans"/>
                <a:cs typeface="Nimbus Sans"/>
              </a:rPr>
              <a:t>Despliegue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A4A221E-FB26-4C0B-A2CA-83D4BF40AAC5}"/>
              </a:ext>
            </a:extLst>
          </p:cNvPr>
          <p:cNvSpPr>
            <a:spLocks noGrp="1"/>
          </p:cNvSpPr>
          <p:nvPr/>
        </p:nvSpPr>
        <p:spPr>
          <a:xfrm>
            <a:off x="723900" y="5276850"/>
            <a:ext cx="10744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algn="l">
              <a:buNone/>
              <a:def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6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¿Cómo aplicamos Docker a una app móvil con SQLite local?</a:t>
            </a:r>
          </a:p>
        </p:txBody>
      </p:sp>
    </p:spTree>
    <p:extLst>
      <p:ext uri="{BB962C8B-B14F-4D97-AF65-F5344CB8AC3E}">
        <p14:creationId xmlns:p14="http://schemas.microsoft.com/office/powerpoint/2010/main" val="6657627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imbus Sans"/>
        <a:ea typeface=""/>
        <a:cs typeface=""/>
      </a:majorFont>
      <a:minorFont>
        <a:latin typeface="Nimbus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Kinetia">
      <a:dk1>
        <a:srgbClr val="000000"/>
      </a:dk1>
      <a:lt1>
        <a:srgbClr val="FFFFFF"/>
      </a:lt1>
      <a:dk2>
        <a:srgbClr val="44474F"/>
      </a:dk2>
      <a:lt2>
        <a:srgbClr val="F0F0F3"/>
      </a:lt2>
      <a:accent1>
        <a:srgbClr val="7046B5"/>
      </a:accent1>
      <a:accent2>
        <a:srgbClr val="F0F0F3"/>
      </a:accent2>
      <a:accent3>
        <a:srgbClr val="B9B2C2"/>
      </a:accent3>
      <a:accent4>
        <a:srgbClr val="C46170"/>
      </a:accent4>
      <a:accent5>
        <a:srgbClr val="44474F"/>
      </a:accent5>
      <a:accent6>
        <a:srgbClr val="666666"/>
      </a:accent6>
      <a:hlink>
        <a:srgbClr val="7046B5"/>
      </a:hlink>
      <a:folHlink>
        <a:srgbClr val="7046B5"/>
      </a:folHlink>
    </a:clrScheme>
    <a:fontScheme name="">
      <a:majorFont>
        <a:latin typeface="Nimbus Sans"/>
        <a:ea typeface=""/>
        <a:cs typeface=""/>
      </a:majorFont>
      <a:minorFont>
        <a:latin typeface="Nimbus Sans"/>
        <a:ea typeface=""/>
        <a:cs typeface=""/>
      </a:minorFont>
    </a:fontScheme>
    <a:fmtScheme name="Kineti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Office PowerPoint</Application>
  <DocSecurity>0</DocSecurity>
  <PresentationFormat>Panorámica</PresentationFormat>
  <Paragraphs>108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Nimbus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KARLA ANDREA ACUNA BRAVO</cp:lastModifiedBy>
  <cp:revision>2</cp:revision>
  <dcterms:created xsi:type="dcterms:W3CDTF">2026-10-13T04:35:24Z</dcterms:created>
  <dcterms:modified xsi:type="dcterms:W3CDTF">2026-10-13T04:42:23Z</dcterms:modified>
</cp:coreProperties>
</file>
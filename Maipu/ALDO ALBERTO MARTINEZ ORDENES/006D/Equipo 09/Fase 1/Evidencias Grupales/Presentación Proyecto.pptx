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Presento Kinetia, mi proyecto Capstone individual. En esta Fase 1 demostraré que el problema, el alcance, la solución propuesta y el plan son pertinentes y factibles. La imagen de portada es conceptual y no corresponde a una interfaz implementada.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vigente: definición del proyecto Kinetia.</a:t>
            </a:r>
          </a:p>
          <a:p>
            <a:r>
              <a:t>- Imagen conceptual generada para esta presentación; no representa evidencia de implementación.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exposición avanza desde la necesidad hasta la propuesta y luego explica cómo se ejecutará, controlará y evaluará. Todos los contenidos mínimos indicados por el profesor aparecen de forma explícita.</a:t>
            </a:r>
          </a:p>
          <a:p>
            <a:endParaRPr/>
          </a:p>
          <a:p>
            <a:r>
              <a:t>[Sources]</a:t>
            </a:r>
          </a:p>
          <a:p>
            <a:r>
              <a:t>- Requisitos mínimos de presentación comunicados por el profesor.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Kinetia se sitúa en el entrenamiento autónomo. El dato global entrega contexto, pero el proyecto no busca resolver clínicamente la inactividad: aborda la dificultad de organizar y registrar una rutina. El MVP se acota a adultos principiantes o intermedios con acceso a un gimnasio estándar.</a:t>
            </a:r>
          </a:p>
          <a:p>
            <a:endParaRPr/>
          </a:p>
          <a:p>
            <a:r>
              <a:t>[Sources]</a:t>
            </a:r>
          </a:p>
          <a:p>
            <a:r>
              <a:t>- https://www.thelancet.com/journals/langlo/article/PIIS2214-109X%2824%2900150-5/fulltext</a:t>
            </a:r>
          </a:p>
          <a:p>
            <a:r>
              <a:t>- https://www.who.int/publications/i/item/9789240015128</a:t>
            </a:r>
          </a:p>
          <a:p>
            <a:r>
              <a:t>- Documento 1.5 vigente, sección Relevancia del proyecto APT.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problemática es principalmente organizacional. Para obtener una propuesta útil hay que combinar varias variables, mientras que la información y el registro suelen estar dispersos. Kinetia no diagnostica ni prescribe tratamientos; ordena información de entrenamiento dentro de un alcance definido.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Relevancia y Descripción del Proyecto APT.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solución reúne en un solo flujo la configuración, la generación, el registro y la revisión. El objetivo general es desarrollar y validar el prototipo durante las 18 semanas. El catálogo vigente considera 32 ejercicios base y hasta cuatro condicionales únicamente si la matriz detecta brechas, sin superar 36.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Descripción del proyecto y Objetivos.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metodología es ágil e incremental, adaptada a un desarrollo individual. Asumo las funciones de gestión, diseño, programación, pruebas y documentación. Un preparador físico podrá responder consultas concretas en momentos específicos, pero no integra permanentemente el equipo ni valida el proyecto completo.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Metodología, Factibilidad y Plan de trabajo.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plan distribuye el trabajo en definición, configuración, implementación, integración, pruebas y documentación. Los hitos son Fase 1 en semana 4, avance en semana 10, versión funcional en semana 14, Fase 2 en semana 15 y comisión en semana 17 o 18.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Plan de trabajo, Carta Gantt e Hitos.</a:t>
            </a:r>
          </a:p>
          <a:p>
            <a:r>
              <a:t>- Calendario Capstone 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arquitectura separa interfaz, lógica, generación y datos. La pila tecnológica es una propuesta provisional para Android. El módulo generador queda desacoplado para comparar una alternativa determinista, una basada en inteligencia artificial o una híbrida. En esta fase no se confirma backend, nube ni autenticación.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objetivo específico 2 y metodología.</a:t>
            </a:r>
          </a:p>
          <a:p>
            <a:r>
              <a:t>- Propuesta provisional trabajada en Tecnologías y arquitectura.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Kinetia integra gestión de proyectos, modelamiento de datos, desarrollo de software y calidad. También conecta con mis intereses en datos, modelos predictivos y diseño de interfaces, mientras refuerza programación, bases de datos, integración y pruebas.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Pertinencia con el perfil de egreso e Intereses profesionales.</a:t>
            </a:r>
          </a:p>
          <a:p>
            <a:r>
              <a:t>- Documentos 1.1 y 1.2 completados.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principales riesgos son la carga individual, la complejidad del generador, la cobertura del catálogo y la detección tardía de errores. Se mitigan con alcance controlado, comparación de alternativas, matriz de cobertura, metas semanales y pruebas tempranas.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Factibilidad y Plan de trabajo.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seguridad se plantea desde el diseño: recolectar solo los datos necesarios, evitar información médica y mantener los registros localmente mientras no se justifique una nube. Las entradas se validarán y el repositorio seguirá siendo privado. Cifrado, autenticación y respaldo todavía deben evaluarse; no se presentan como controles ya implementados.</a:t>
            </a:r>
          </a:p>
          <a:p>
            <a:endParaRPr/>
          </a:p>
          <a:p>
            <a:r>
              <a:t>[Sources]</a:t>
            </a:r>
          </a:p>
          <a:p>
            <a:r>
              <a:t>- https://mas.owasp.org/MASVS/</a:t>
            </a:r>
          </a:p>
          <a:p>
            <a:r>
              <a:t>- https://mas.owasp.org/MASVS/12-MASVS-PRIVACY/</a:t>
            </a:r>
          </a:p>
          <a:p>
            <a:r>
              <a:t>- Documento 1.5 vigente, alcance y exclusiones médicas.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modelo de negocio se presenta como una hipótesis inicial. El segmento y la propuesta de valor están definidos, pero el Capstone se concentra en validar el funcionamiento del MVP. No hay un modelo de ingresos confirmado y la monetización queda fuera del alcance actual.</a:t>
            </a:r>
          </a:p>
          <a:p>
            <a:endParaRPr/>
          </a:p>
          <a:p>
            <a:r>
              <a:t>[Sources]</a:t>
            </a:r>
          </a:p>
          <a:p>
            <a:r>
              <a:t>- Modelo preliminar derivado del alcance vigente de Kinetia; aún no validado con usuarios.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mockup conceptual muestra tres momentos del flujo: configurar las variables principales, revisar el plan semanal y registrar una sesión. No corresponde a una interfaz implementada; servirá como punto de partida para refinar el diseño y realizar pruebas de usabilidad.</a:t>
            </a:r>
          </a:p>
          <a:p>
            <a:endParaRPr/>
          </a:p>
          <a:p>
            <a:r>
              <a:t>[Sources]</a:t>
            </a:r>
          </a:p>
          <a:p>
            <a:r>
              <a:t>- Mockup conceptual generado específicamente para esta presentación; no representa evidencia de implementación.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Fase 1 deja definidos el problema, usuario, alcance, solución, objetivos, metodología, roles, arquitectura preliminar, riesgos, seguridad inicial, modelo de negocio preliminar, plan y evidencias. Los elementos todavía abiertos están identificados y planificados, por lo que no impiden continuar con un desarrollo individual controlado.</a:t>
            </a:r>
          </a:p>
          <a:p>
            <a:endParaRPr/>
          </a:p>
          <a:p>
            <a:r>
              <a:t>[Sources]</a:t>
            </a:r>
          </a:p>
          <a:p>
            <a:r>
              <a:t>- Documento 1.5 vigente, secciones Objetivos, Metodología, Evidencias y Plan de trabajo.</a:t>
            </a:r>
          </a:p>
          <a:p>
            <a:r>
              <a:t>- Calendario Capstone 2026.</a:t>
            </a:r>
          </a:p>
          <a:p>
            <a:r>
              <a:t>- Requisitos mínimos de presentación comunicados por el profesor.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eyebrow">
            <a:extLst>
              <a:ext uri="{FF2B5EF4-FFF2-40B4-BE49-F238E27FC236}">
                <a16:creationId xmlns:a16="http://schemas.microsoft.com/office/drawing/2014/main" id="{3A831895-2D3B-4E7D-ACAC-FD3B6D10360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CAPSTONE 2026 · FASE 1</a:t>
            </a:r>
          </a:p>
        </p:txBody>
      </p:sp>
      <p:sp>
        <p:nvSpPr>
          <p:cNvPr id="2" name="cover-accent">
            <a:extLst>
              <a:ext uri="{FF2B5EF4-FFF2-40B4-BE49-F238E27FC236}">
                <a16:creationId xmlns:a16="http://schemas.microsoft.com/office/drawing/2014/main" id="{42DD3C39-822E-42CE-B8B0-384917493874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76200" cy="2495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EDE486E5-AA7A-4620-AF83-06D6C399EB6B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495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Kinetia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D83F0857-1769-4D9A-A404-88E561EAF2A5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4857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Aplicación móvil de planificación y seguimiento de rutinas de ejercicio personalizadas</a:t>
            </a:r>
          </a:p>
        </p:txBody>
      </p:sp>
      <p:sp>
        <p:nvSpPr>
          <p:cNvPr id="5" name="cover-student">
            <a:extLst>
              <a:ext uri="{FF2B5EF4-FFF2-40B4-BE49-F238E27FC236}">
                <a16:creationId xmlns:a16="http://schemas.microsoft.com/office/drawing/2014/main" id="{87BDDFEA-3660-410B-B9BA-8F9109418B29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Karla Acuña Bravo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076350F9-9131-4EDC-9DA3-B942CBEE6603}"/>
              </a:ext>
            </a:extLst>
          </p:cNvPr>
          <p:cNvSpPr>
            <a:spLocks noGrp="1"/>
          </p:cNvSpPr>
          <p:nvPr/>
        </p:nvSpPr>
        <p:spPr>
          <a:xfrm>
            <a:off x="838200" y="4829175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Equipo 09 · </a:t>
            </a:r>
            <a:r>
              <a:rPr sz="1200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Sección</a:t>
            </a:r>
            <a:r>
              <a:rPr sz="1200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006D</a:t>
            </a:r>
          </a:p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PTY4614 · Ingeniería </a:t>
            </a:r>
            <a:r>
              <a:rPr sz="1200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en</a:t>
            </a:r>
            <a:r>
              <a:rPr sz="1200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Informática</a:t>
            </a:r>
            <a:r>
              <a:rPr sz="1200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· Duoc UC Maipú</a:t>
            </a:r>
          </a:p>
        </p:txBody>
      </p:sp>
      <p:sp>
        <p:nvSpPr>
          <p:cNvPr id="9" name="cover-illustrative-label">
            <a:extLst>
              <a:ext uri="{FF2B5EF4-FFF2-40B4-BE49-F238E27FC236}">
                <a16:creationId xmlns:a16="http://schemas.microsoft.com/office/drawing/2014/main" id="{6AD0567C-4DF3-4339-AEEB-5BB53B0AC3A3}"/>
              </a:ext>
            </a:extLst>
          </p:cNvPr>
          <p:cNvSpPr>
            <a:spLocks noGrp="1"/>
          </p:cNvSpPr>
          <p:nvPr/>
        </p:nvSpPr>
        <p:spPr>
          <a:xfrm>
            <a:off x="9906000" y="58864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Imagen conceptual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6CD2430-D782-C4E2-1E5F-B5D46673B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055861"/>
            <a:ext cx="5352114" cy="486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2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4-title">
            <a:extLst>
              <a:ext uri="{FF2B5EF4-FFF2-40B4-BE49-F238E27FC236}">
                <a16:creationId xmlns:a16="http://schemas.microsoft.com/office/drawing/2014/main" id="{1CA2C515-27F9-494A-A155-9562EEBB30C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Índice</a:t>
            </a:r>
          </a:p>
        </p:txBody>
      </p:sp>
      <p:cxnSp>
        <p:nvCxnSpPr>
          <p:cNvPr id="45" name="slide-4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4-footer-right">
            <a:extLst>
              <a:ext uri="{FF2B5EF4-FFF2-40B4-BE49-F238E27FC236}">
                <a16:creationId xmlns:a16="http://schemas.microsoft.com/office/drawing/2014/main" id="{2E7C2FB6-35C5-4C87-B6F8-8B17190817B2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objective-general-band">
            <a:extLst>
              <a:ext uri="{FF2B5EF4-FFF2-40B4-BE49-F238E27FC236}">
                <a16:creationId xmlns:a16="http://schemas.microsoft.com/office/drawing/2014/main" id="{EE2590F9-0F1D-4664-B74E-764FBCF2D6B7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11125200" cy="11049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objective-general-label">
            <a:extLst>
              <a:ext uri="{FF2B5EF4-FFF2-40B4-BE49-F238E27FC236}">
                <a16:creationId xmlns:a16="http://schemas.microsoft.com/office/drawing/2014/main" id="{BA9DC85D-FA00-4B8E-910C-D40A3E06BE46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RECORRIDO</a:t>
            </a:r>
          </a:p>
        </p:txBody>
      </p:sp>
      <p:sp>
        <p:nvSpPr>
          <p:cNvPr id="7" name="objective-general-text">
            <a:extLst>
              <a:ext uri="{FF2B5EF4-FFF2-40B4-BE49-F238E27FC236}">
                <a16:creationId xmlns:a16="http://schemas.microsoft.com/office/drawing/2014/main" id="{AC10EE11-B94A-42BE-9644-453BFF982EC9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presentación sigue cuatro bloques para definir y evaluar Kinetia.</a:t>
            </a:r>
          </a:p>
        </p:txBody>
      </p:sp>
      <p:cxnSp>
        <p:nvCxnSpPr>
          <p:cNvPr id="51" name="objective-divider-1"/>
          <p:cNvCxnSpPr/>
          <p:nvPr/>
        </p:nvCxnSpPr>
        <p:spPr>
          <a:xfrm>
            <a:off x="3181350" y="2990850"/>
            <a:ext cx="0" cy="22479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cxnSp>
        <p:nvCxnSpPr>
          <p:cNvPr id="52" name="objective-divider-2"/>
          <p:cNvCxnSpPr/>
          <p:nvPr/>
        </p:nvCxnSpPr>
        <p:spPr>
          <a:xfrm>
            <a:off x="5962650" y="2990850"/>
            <a:ext cx="0" cy="22479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cxnSp>
        <p:nvCxnSpPr>
          <p:cNvPr id="53" name="objective-divider-3"/>
          <p:cNvCxnSpPr/>
          <p:nvPr/>
        </p:nvCxnSpPr>
        <p:spPr>
          <a:xfrm>
            <a:off x="8743950" y="2990850"/>
            <a:ext cx="0" cy="22479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objective-01-num">
            <a:extLst>
              <a:ext uri="{FF2B5EF4-FFF2-40B4-BE49-F238E27FC236}">
                <a16:creationId xmlns:a16="http://schemas.microsoft.com/office/drawing/2014/main" id="{38EF16F0-9B2D-48D6-A699-D6F612B911F0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objective-01-verb">
            <a:extLst>
              <a:ext uri="{FF2B5EF4-FFF2-40B4-BE49-F238E27FC236}">
                <a16:creationId xmlns:a16="http://schemas.microsoft.com/office/drawing/2014/main" id="{E74375EC-79D0-461F-9A82-CFFBE46CCB65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2333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Fundamentos</a:t>
            </a:r>
          </a:p>
        </p:txBody>
      </p:sp>
      <p:sp>
        <p:nvSpPr>
          <p:cNvPr id="13" name="objective-01-detail">
            <a:extLst>
              <a:ext uri="{FF2B5EF4-FFF2-40B4-BE49-F238E27FC236}">
                <a16:creationId xmlns:a16="http://schemas.microsoft.com/office/drawing/2014/main" id="{469419A8-5406-4F71-BCAC-A68DE59ECDA8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228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Introducción
Contexto
Problemática</a:t>
            </a:r>
          </a:p>
        </p:txBody>
      </p:sp>
      <p:sp>
        <p:nvSpPr>
          <p:cNvPr id="14" name="objective-02-num">
            <a:extLst>
              <a:ext uri="{FF2B5EF4-FFF2-40B4-BE49-F238E27FC236}">
                <a16:creationId xmlns:a16="http://schemas.microsoft.com/office/drawing/2014/main" id="{6E35B4AF-AC39-40ED-A910-B4B17705E824}"/>
              </a:ext>
            </a:extLst>
          </p:cNvPr>
          <p:cNvSpPr>
            <a:spLocks noGrp="1"/>
          </p:cNvSpPr>
          <p:nvPr/>
        </p:nvSpPr>
        <p:spPr>
          <a:xfrm>
            <a:off x="3467100" y="300037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objective-02-verb">
            <a:extLst>
              <a:ext uri="{FF2B5EF4-FFF2-40B4-BE49-F238E27FC236}">
                <a16:creationId xmlns:a16="http://schemas.microsoft.com/office/drawing/2014/main" id="{55F1ECD7-B9E9-4D09-A18F-674FD0CCB32E}"/>
              </a:ext>
            </a:extLst>
          </p:cNvPr>
          <p:cNvSpPr>
            <a:spLocks noGrp="1"/>
          </p:cNvSpPr>
          <p:nvPr/>
        </p:nvSpPr>
        <p:spPr>
          <a:xfrm>
            <a:off x="3467100" y="3476625"/>
            <a:ext cx="2333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16" name="objective-02-detail">
            <a:extLst>
              <a:ext uri="{FF2B5EF4-FFF2-40B4-BE49-F238E27FC236}">
                <a16:creationId xmlns:a16="http://schemas.microsoft.com/office/drawing/2014/main" id="{87301FD4-4AEF-4DF3-839E-F07FAFF77193}"/>
              </a:ext>
            </a:extLst>
          </p:cNvPr>
          <p:cNvSpPr>
            <a:spLocks noGrp="1"/>
          </p:cNvSpPr>
          <p:nvPr/>
        </p:nvSpPr>
        <p:spPr>
          <a:xfrm>
            <a:off x="3467100" y="4038600"/>
            <a:ext cx="228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Solución
Modelo de negocio
Mockup</a:t>
            </a:r>
          </a:p>
        </p:txBody>
      </p:sp>
      <p:sp>
        <p:nvSpPr>
          <p:cNvPr id="17" name="objective-03-num">
            <a:extLst>
              <a:ext uri="{FF2B5EF4-FFF2-40B4-BE49-F238E27FC236}">
                <a16:creationId xmlns:a16="http://schemas.microsoft.com/office/drawing/2014/main" id="{AE5BA87D-AB41-4BB2-8491-80FA2B82298E}"/>
              </a:ext>
            </a:extLst>
          </p:cNvPr>
          <p:cNvSpPr>
            <a:spLocks noGrp="1"/>
          </p:cNvSpPr>
          <p:nvPr/>
        </p:nvSpPr>
        <p:spPr>
          <a:xfrm>
            <a:off x="6248400" y="300037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objective-03-verb">
            <a:extLst>
              <a:ext uri="{FF2B5EF4-FFF2-40B4-BE49-F238E27FC236}">
                <a16:creationId xmlns:a16="http://schemas.microsoft.com/office/drawing/2014/main" id="{67C71A08-756B-43AD-95D2-8CD2FAD4DF98}"/>
              </a:ext>
            </a:extLst>
          </p:cNvPr>
          <p:cNvSpPr>
            <a:spLocks noGrp="1"/>
          </p:cNvSpPr>
          <p:nvPr/>
        </p:nvSpPr>
        <p:spPr>
          <a:xfrm>
            <a:off x="6248400" y="3476625"/>
            <a:ext cx="2333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19" name="objective-03-detail">
            <a:extLst>
              <a:ext uri="{FF2B5EF4-FFF2-40B4-BE49-F238E27FC236}">
                <a16:creationId xmlns:a16="http://schemas.microsoft.com/office/drawing/2014/main" id="{871B0972-97CD-4192-B438-F3F5230ED45F}"/>
              </a:ext>
            </a:extLst>
          </p:cNvPr>
          <p:cNvSpPr>
            <a:spLocks noGrp="1"/>
          </p:cNvSpPr>
          <p:nvPr/>
        </p:nvSpPr>
        <p:spPr>
          <a:xfrm>
            <a:off x="6248400" y="4038600"/>
            <a:ext cx="228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Metodología
Plan y roles
Arquitectura</a:t>
            </a:r>
          </a:p>
        </p:txBody>
      </p:sp>
      <p:sp>
        <p:nvSpPr>
          <p:cNvPr id="20" name="objective-04-num">
            <a:extLst>
              <a:ext uri="{FF2B5EF4-FFF2-40B4-BE49-F238E27FC236}">
                <a16:creationId xmlns:a16="http://schemas.microsoft.com/office/drawing/2014/main" id="{648E9BA2-5C5F-4667-AE8D-AD72FA376D73}"/>
              </a:ext>
            </a:extLst>
          </p:cNvPr>
          <p:cNvSpPr>
            <a:spLocks noGrp="1"/>
          </p:cNvSpPr>
          <p:nvPr/>
        </p:nvSpPr>
        <p:spPr>
          <a:xfrm>
            <a:off x="9029700" y="300037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objective-04-verb">
            <a:extLst>
              <a:ext uri="{FF2B5EF4-FFF2-40B4-BE49-F238E27FC236}">
                <a16:creationId xmlns:a16="http://schemas.microsoft.com/office/drawing/2014/main" id="{DC30378A-9E93-4547-B1F0-284F77C61186}"/>
              </a:ext>
            </a:extLst>
          </p:cNvPr>
          <p:cNvSpPr>
            <a:spLocks noGrp="1"/>
          </p:cNvSpPr>
          <p:nvPr/>
        </p:nvSpPr>
        <p:spPr>
          <a:xfrm>
            <a:off x="9029700" y="3476625"/>
            <a:ext cx="2333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2" name="objective-04-detail">
            <a:extLst>
              <a:ext uri="{FF2B5EF4-FFF2-40B4-BE49-F238E27FC236}">
                <a16:creationId xmlns:a16="http://schemas.microsoft.com/office/drawing/2014/main" id="{45904CA7-8855-42E4-9499-3BB7B23D1F5D}"/>
              </a:ext>
            </a:extLst>
          </p:cNvPr>
          <p:cNvSpPr>
            <a:spLocks noGrp="1"/>
          </p:cNvSpPr>
          <p:nvPr/>
        </p:nvSpPr>
        <p:spPr>
          <a:xfrm>
            <a:off x="9029700" y="4038600"/>
            <a:ext cx="228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Competencias
Riesgos
Seguridad
Conclusión</a:t>
            </a:r>
          </a:p>
        </p:txBody>
      </p:sp>
      <p:sp>
        <p:nvSpPr>
          <p:cNvPr id="23" name="objective-note">
            <a:extLst>
              <a:ext uri="{FF2B5EF4-FFF2-40B4-BE49-F238E27FC236}">
                <a16:creationId xmlns:a16="http://schemas.microsoft.com/office/drawing/2014/main" id="{7D463B03-52F7-4C87-BEFA-77A172E61A16}"/>
              </a:ext>
            </a:extLst>
          </p:cNvPr>
          <p:cNvSpPr>
            <a:spLocks noGrp="1"/>
          </p:cNvSpPr>
          <p:nvPr/>
        </p:nvSpPr>
        <p:spPr>
          <a:xfrm>
            <a:off x="533400" y="5753100"/>
            <a:ext cx="1112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Los contenidos solicitados por el profesor aparecen de forma explícita.</a:t>
            </a:r>
          </a:p>
        </p:txBody>
      </p:sp>
    </p:spTree>
    <p:extLst>
      <p:ext uri="{BB962C8B-B14F-4D97-AF65-F5344CB8AC3E}">
        <p14:creationId xmlns:p14="http://schemas.microsoft.com/office/powerpoint/2010/main" val="53705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2-title">
            <a:extLst>
              <a:ext uri="{FF2B5EF4-FFF2-40B4-BE49-F238E27FC236}">
                <a16:creationId xmlns:a16="http://schemas.microsoft.com/office/drawing/2014/main" id="{6EAB98EE-FD39-4888-A45E-2ED601510A7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Introducción y contexto: organizar antes de entrenar</a:t>
            </a:r>
          </a:p>
        </p:txBody>
      </p:sp>
      <p:cxnSp>
        <p:nvCxnSpPr>
          <p:cNvPr id="47" name="slide-2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2-footer-right">
            <a:extLst>
              <a:ext uri="{FF2B5EF4-FFF2-40B4-BE49-F238E27FC236}">
                <a16:creationId xmlns:a16="http://schemas.microsoft.com/office/drawing/2014/main" id="{B4C2A03E-6655-4ADE-903F-C6CF12CE9AF6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levance-stat-panel">
            <a:extLst>
              <a:ext uri="{FF2B5EF4-FFF2-40B4-BE49-F238E27FC236}">
                <a16:creationId xmlns:a16="http://schemas.microsoft.com/office/drawing/2014/main" id="{F611F16E-39F3-46D9-8623-9CF9B05E1440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3143250" cy="42481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levance-stat">
            <a:extLst>
              <a:ext uri="{FF2B5EF4-FFF2-40B4-BE49-F238E27FC236}">
                <a16:creationId xmlns:a16="http://schemas.microsoft.com/office/drawing/2014/main" id="{200A4E2B-6872-4BBB-9F85-768FB50D7F0A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510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31,3 %</a:t>
            </a:r>
          </a:p>
        </p:txBody>
      </p:sp>
      <p:sp>
        <p:nvSpPr>
          <p:cNvPr id="7" name="relevance-stat-copy">
            <a:extLst>
              <a:ext uri="{FF2B5EF4-FFF2-40B4-BE49-F238E27FC236}">
                <a16:creationId xmlns:a16="http://schemas.microsoft.com/office/drawing/2014/main" id="{75BC4ACC-14D5-4987-9DE5-40E1E11BD77A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476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 los adultos presentaba actividad física insuficiente en 2022</a:t>
            </a:r>
          </a:p>
        </p:txBody>
      </p:sp>
      <p:sp>
        <p:nvSpPr>
          <p:cNvPr id="8" name="relevance-stat-context">
            <a:extLst>
              <a:ext uri="{FF2B5EF4-FFF2-40B4-BE49-F238E27FC236}">
                <a16:creationId xmlns:a16="http://schemas.microsoft.com/office/drawing/2014/main" id="{913B56E9-E46C-4190-A1E8-85614AA8EC3A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62"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El dato entrega contexto global; Kinetia se concentra en una necesidad organizacional más acotada.</a:t>
            </a:r>
          </a:p>
        </p:txBody>
      </p:sp>
      <p:sp>
        <p:nvSpPr>
          <p:cNvPr id="9" name="problem-label">
            <a:extLst>
              <a:ext uri="{FF2B5EF4-FFF2-40B4-BE49-F238E27FC236}">
                <a16:creationId xmlns:a16="http://schemas.microsoft.com/office/drawing/2014/main" id="{B4AE5377-F42C-47E0-890A-5A6A581FD2AD}"/>
              </a:ext>
            </a:extLst>
          </p:cNvPr>
          <p:cNvSpPr>
            <a:spLocks noGrp="1"/>
          </p:cNvSpPr>
          <p:nvPr/>
        </p:nvSpPr>
        <p:spPr>
          <a:xfrm>
            <a:off x="4267200" y="1581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10" name="problem-text">
            <a:extLst>
              <a:ext uri="{FF2B5EF4-FFF2-40B4-BE49-F238E27FC236}">
                <a16:creationId xmlns:a16="http://schemas.microsoft.com/office/drawing/2014/main" id="{CC2E0065-DC72-4633-BC89-51C7283D7DAB}"/>
              </a:ext>
            </a:extLst>
          </p:cNvPr>
          <p:cNvSpPr>
            <a:spLocks noGrp="1"/>
          </p:cNvSpPr>
          <p:nvPr/>
        </p:nvSpPr>
        <p:spPr>
          <a:xfrm>
            <a:off x="4267200" y="1924050"/>
            <a:ext cx="6934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Kinetia es un prototipo móvil que reúne planificación, personalización y seguimiento básico del entrenamiento.</a:t>
            </a:r>
          </a:p>
        </p:txBody>
      </p:sp>
      <p:cxnSp>
        <p:nvCxnSpPr>
          <p:cNvPr id="56" name="problem-separator-1"/>
          <p:cNvCxnSpPr/>
          <p:nvPr/>
        </p:nvCxnSpPr>
        <p:spPr>
          <a:xfrm>
            <a:off x="4267200" y="2914650"/>
            <a:ext cx="6934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2" name="user-label">
            <a:extLst>
              <a:ext uri="{FF2B5EF4-FFF2-40B4-BE49-F238E27FC236}">
                <a16:creationId xmlns:a16="http://schemas.microsoft.com/office/drawing/2014/main" id="{1EBC178D-7596-4398-9D60-F9AC5A1E57CF}"/>
              </a:ext>
            </a:extLst>
          </p:cNvPr>
          <p:cNvSpPr>
            <a:spLocks noGrp="1"/>
          </p:cNvSpPr>
          <p:nvPr/>
        </p:nvSpPr>
        <p:spPr>
          <a:xfrm>
            <a:off x="4267200" y="31813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CONTEXTO DEL MVP</a:t>
            </a:r>
          </a:p>
        </p:txBody>
      </p:sp>
      <p:sp>
        <p:nvSpPr>
          <p:cNvPr id="13" name="user-text">
            <a:extLst>
              <a:ext uri="{FF2B5EF4-FFF2-40B4-BE49-F238E27FC236}">
                <a16:creationId xmlns:a16="http://schemas.microsoft.com/office/drawing/2014/main" id="{24FFC040-0B58-47F3-ABC2-5DB46769E194}"/>
              </a:ext>
            </a:extLst>
          </p:cNvPr>
          <p:cNvSpPr>
            <a:spLocks noGrp="1"/>
          </p:cNvSpPr>
          <p:nvPr/>
        </p:nvSpPr>
        <p:spPr>
          <a:xfrm>
            <a:off x="4267200" y="3524250"/>
            <a:ext cx="6934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Uso autónomo en un gimnasio estándar, con un único tipo de usuario y un desarrollo individual de 18 semanas.</a:t>
            </a:r>
          </a:p>
        </p:txBody>
      </p:sp>
      <p:cxnSp>
        <p:nvCxnSpPr>
          <p:cNvPr id="59" name="problem-separator-2"/>
          <p:cNvCxnSpPr/>
          <p:nvPr/>
        </p:nvCxnSpPr>
        <p:spPr>
          <a:xfrm>
            <a:off x="4267200" y="4438650"/>
            <a:ext cx="6934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5" name="value-label">
            <a:extLst>
              <a:ext uri="{FF2B5EF4-FFF2-40B4-BE49-F238E27FC236}">
                <a16:creationId xmlns:a16="http://schemas.microsoft.com/office/drawing/2014/main" id="{FDCE8780-FA91-4513-ADFF-F9DDDE0D3951}"/>
              </a:ext>
            </a:extLst>
          </p:cNvPr>
          <p:cNvSpPr>
            <a:spLocks noGrp="1"/>
          </p:cNvSpPr>
          <p:nvPr/>
        </p:nvSpPr>
        <p:spPr>
          <a:xfrm>
            <a:off x="4267200" y="4705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USUARIO OBJETIVO</a:t>
            </a:r>
          </a:p>
        </p:txBody>
      </p:sp>
      <p:sp>
        <p:nvSpPr>
          <p:cNvPr id="16" name="value-text">
            <a:extLst>
              <a:ext uri="{FF2B5EF4-FFF2-40B4-BE49-F238E27FC236}">
                <a16:creationId xmlns:a16="http://schemas.microsoft.com/office/drawing/2014/main" id="{4C64F8E0-1F35-4598-94E0-B929F284BCAE}"/>
              </a:ext>
            </a:extLst>
          </p:cNvPr>
          <p:cNvSpPr>
            <a:spLocks noGrp="1"/>
          </p:cNvSpPr>
          <p:nvPr/>
        </p:nvSpPr>
        <p:spPr>
          <a:xfrm>
            <a:off x="4267200" y="5048250"/>
            <a:ext cx="6934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Personas mayores de 18 años, principiantes o intermedias.</a:t>
            </a:r>
          </a:p>
        </p:txBody>
      </p:sp>
      <p:sp>
        <p:nvSpPr>
          <p:cNvPr id="17" name="problem-source">
            <a:extLst>
              <a:ext uri="{FF2B5EF4-FFF2-40B4-BE49-F238E27FC236}">
                <a16:creationId xmlns:a16="http://schemas.microsoft.com/office/drawing/2014/main" id="{98525BCA-A8B8-411B-B773-A87D5E4493FF}"/>
              </a:ext>
            </a:extLst>
          </p:cNvPr>
          <p:cNvSpPr>
            <a:spLocks noGrp="1"/>
          </p:cNvSpPr>
          <p:nvPr/>
        </p:nvSpPr>
        <p:spPr>
          <a:xfrm>
            <a:off x="4267200" y="5953125"/>
            <a:ext cx="6934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000"/>
          </a:bodyPr>
          <a:lstStyle/>
          <a:p>
            <a:pPr algn="l">
              <a:buNone/>
              <a:defRPr sz="7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Fuente externa: Strain et al., The Lancet Global Health (2024).</a:t>
            </a:r>
          </a:p>
        </p:txBody>
      </p:sp>
    </p:spTree>
    <p:extLst>
      <p:ext uri="{BB962C8B-B14F-4D97-AF65-F5344CB8AC3E}">
        <p14:creationId xmlns:p14="http://schemas.microsoft.com/office/powerpoint/2010/main" val="129060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2-title">
            <a:extLst>
              <a:ext uri="{FF2B5EF4-FFF2-40B4-BE49-F238E27FC236}">
                <a16:creationId xmlns:a16="http://schemas.microsoft.com/office/drawing/2014/main" id="{6EAB98EE-FD39-4888-A45E-2ED601510A7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Problemática: decisiones dispersas y poca trazabilidad</a:t>
            </a:r>
          </a:p>
        </p:txBody>
      </p:sp>
      <p:cxnSp>
        <p:nvCxnSpPr>
          <p:cNvPr id="47" name="slide-2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2-footer-right">
            <a:extLst>
              <a:ext uri="{FF2B5EF4-FFF2-40B4-BE49-F238E27FC236}">
                <a16:creationId xmlns:a16="http://schemas.microsoft.com/office/drawing/2014/main" id="{B4C2A03E-6655-4ADE-903F-C6CF12CE9AF6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levance-stat-panel">
            <a:extLst>
              <a:ext uri="{FF2B5EF4-FFF2-40B4-BE49-F238E27FC236}">
                <a16:creationId xmlns:a16="http://schemas.microsoft.com/office/drawing/2014/main" id="{F611F16E-39F3-46D9-8623-9CF9B05E1440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3143250" cy="42481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levance-stat">
            <a:extLst>
              <a:ext uri="{FF2B5EF4-FFF2-40B4-BE49-F238E27FC236}">
                <a16:creationId xmlns:a16="http://schemas.microsoft.com/office/drawing/2014/main" id="{200A4E2B-6872-4BBB-9F85-768FB50D7F0A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66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510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5+</a:t>
            </a:r>
          </a:p>
        </p:txBody>
      </p:sp>
      <p:sp>
        <p:nvSpPr>
          <p:cNvPr id="7" name="relevance-stat-copy">
            <a:extLst>
              <a:ext uri="{FF2B5EF4-FFF2-40B4-BE49-F238E27FC236}">
                <a16:creationId xmlns:a16="http://schemas.microsoft.com/office/drawing/2014/main" id="{75BC4ACC-14D5-4987-9DE5-40E1E11BD77A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476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variables principales deben coordinarse para construir una rutina útil</a:t>
            </a:r>
          </a:p>
        </p:txBody>
      </p:sp>
      <p:sp>
        <p:nvSpPr>
          <p:cNvPr id="8" name="relevance-stat-context">
            <a:extLst>
              <a:ext uri="{FF2B5EF4-FFF2-40B4-BE49-F238E27FC236}">
                <a16:creationId xmlns:a16="http://schemas.microsoft.com/office/drawing/2014/main" id="{913B56E9-E46C-4190-A1E8-85614AA8EC3A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2476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Objetivo, nivel, días, duración y ejercicios a evitar necesitan considerarse en conjunto.</a:t>
            </a:r>
          </a:p>
        </p:txBody>
      </p:sp>
      <p:sp>
        <p:nvSpPr>
          <p:cNvPr id="9" name="problem-label">
            <a:extLst>
              <a:ext uri="{FF2B5EF4-FFF2-40B4-BE49-F238E27FC236}">
                <a16:creationId xmlns:a16="http://schemas.microsoft.com/office/drawing/2014/main" id="{B4AE5377-F42C-47E0-890A-5A6A581FD2AD}"/>
              </a:ext>
            </a:extLst>
          </p:cNvPr>
          <p:cNvSpPr>
            <a:spLocks noGrp="1"/>
          </p:cNvSpPr>
          <p:nvPr/>
        </p:nvSpPr>
        <p:spPr>
          <a:xfrm>
            <a:off x="4267200" y="1581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INFORMACIÓN DISPERSA</a:t>
            </a:r>
          </a:p>
        </p:txBody>
      </p:sp>
      <p:sp>
        <p:nvSpPr>
          <p:cNvPr id="10" name="problem-text">
            <a:extLst>
              <a:ext uri="{FF2B5EF4-FFF2-40B4-BE49-F238E27FC236}">
                <a16:creationId xmlns:a16="http://schemas.microsoft.com/office/drawing/2014/main" id="{CC2E0065-DC72-4633-BC89-51C7283D7DAB}"/>
              </a:ext>
            </a:extLst>
          </p:cNvPr>
          <p:cNvSpPr>
            <a:spLocks noGrp="1"/>
          </p:cNvSpPr>
          <p:nvPr/>
        </p:nvSpPr>
        <p:spPr>
          <a:xfrm>
            <a:off x="4267200" y="1924050"/>
            <a:ext cx="6934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Las rutinas y los registros suelen quedar repartidos entre distintas fuentes y herramientas.</a:t>
            </a:r>
          </a:p>
        </p:txBody>
      </p:sp>
      <p:cxnSp>
        <p:nvCxnSpPr>
          <p:cNvPr id="56" name="problem-separator-1"/>
          <p:cNvCxnSpPr/>
          <p:nvPr/>
        </p:nvCxnSpPr>
        <p:spPr>
          <a:xfrm>
            <a:off x="4267200" y="2914650"/>
            <a:ext cx="6934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2" name="user-label">
            <a:extLst>
              <a:ext uri="{FF2B5EF4-FFF2-40B4-BE49-F238E27FC236}">
                <a16:creationId xmlns:a16="http://schemas.microsoft.com/office/drawing/2014/main" id="{1EBC178D-7596-4398-9D60-F9AC5A1E57CF}"/>
              </a:ext>
            </a:extLst>
          </p:cNvPr>
          <p:cNvSpPr>
            <a:spLocks noGrp="1"/>
          </p:cNvSpPr>
          <p:nvPr/>
        </p:nvSpPr>
        <p:spPr>
          <a:xfrm>
            <a:off x="4267200" y="31813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FALTA DE AJUSTE</a:t>
            </a:r>
          </a:p>
        </p:txBody>
      </p:sp>
      <p:sp>
        <p:nvSpPr>
          <p:cNvPr id="13" name="user-text">
            <a:extLst>
              <a:ext uri="{FF2B5EF4-FFF2-40B4-BE49-F238E27FC236}">
                <a16:creationId xmlns:a16="http://schemas.microsoft.com/office/drawing/2014/main" id="{24FFC040-0B58-47F3-ABC2-5DB46769E194}"/>
              </a:ext>
            </a:extLst>
          </p:cNvPr>
          <p:cNvSpPr>
            <a:spLocks noGrp="1"/>
          </p:cNvSpPr>
          <p:nvPr/>
        </p:nvSpPr>
        <p:spPr>
          <a:xfrm>
            <a:off x="4267200" y="3524250"/>
            <a:ext cx="6934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rutina genérica puede ignorar experiencia, disponibilidad y prioridades del usuario.</a:t>
            </a:r>
          </a:p>
        </p:txBody>
      </p:sp>
      <p:cxnSp>
        <p:nvCxnSpPr>
          <p:cNvPr id="59" name="problem-separator-2"/>
          <p:cNvCxnSpPr/>
          <p:nvPr/>
        </p:nvCxnSpPr>
        <p:spPr>
          <a:xfrm>
            <a:off x="4267200" y="4438650"/>
            <a:ext cx="6934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5" name="value-label">
            <a:extLst>
              <a:ext uri="{FF2B5EF4-FFF2-40B4-BE49-F238E27FC236}">
                <a16:creationId xmlns:a16="http://schemas.microsoft.com/office/drawing/2014/main" id="{FDCE8780-FA91-4513-ADFF-F9DDDE0D3951}"/>
              </a:ext>
            </a:extLst>
          </p:cNvPr>
          <p:cNvSpPr>
            <a:spLocks noGrp="1"/>
          </p:cNvSpPr>
          <p:nvPr/>
        </p:nvSpPr>
        <p:spPr>
          <a:xfrm>
            <a:off x="4267200" y="4705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POCA TRAZABILIDAD</a:t>
            </a:r>
          </a:p>
        </p:txBody>
      </p:sp>
      <p:sp>
        <p:nvSpPr>
          <p:cNvPr id="16" name="value-text">
            <a:extLst>
              <a:ext uri="{FF2B5EF4-FFF2-40B4-BE49-F238E27FC236}">
                <a16:creationId xmlns:a16="http://schemas.microsoft.com/office/drawing/2014/main" id="{4C64F8E0-1F35-4598-94E0-B929F284BCAE}"/>
              </a:ext>
            </a:extLst>
          </p:cNvPr>
          <p:cNvSpPr>
            <a:spLocks noGrp="1"/>
          </p:cNvSpPr>
          <p:nvPr/>
        </p:nvSpPr>
        <p:spPr>
          <a:xfrm>
            <a:off x="4267200" y="5048250"/>
            <a:ext cx="6934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 un historial ordenado, cuesta revisar lo realizado y mantener continuidad.</a:t>
            </a:r>
          </a:p>
        </p:txBody>
      </p:sp>
      <p:sp>
        <p:nvSpPr>
          <p:cNvPr id="17" name="problem-source">
            <a:extLst>
              <a:ext uri="{FF2B5EF4-FFF2-40B4-BE49-F238E27FC236}">
                <a16:creationId xmlns:a16="http://schemas.microsoft.com/office/drawing/2014/main" id="{98525BCA-A8B8-411B-B773-A87D5E4493FF}"/>
              </a:ext>
            </a:extLst>
          </p:cNvPr>
          <p:cNvSpPr>
            <a:spLocks noGrp="1"/>
          </p:cNvSpPr>
          <p:nvPr/>
        </p:nvSpPr>
        <p:spPr>
          <a:xfrm>
            <a:off x="4267200" y="5953125"/>
            <a:ext cx="6934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000"/>
          </a:bodyPr>
          <a:lstStyle/>
          <a:p>
            <a:pPr algn="l">
              <a:buNone/>
              <a:defRPr sz="7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Problema y alcance definidos en el documento 1.5 vigente.</a:t>
            </a:r>
          </a:p>
        </p:txBody>
      </p:sp>
    </p:spTree>
    <p:extLst>
      <p:ext uri="{BB962C8B-B14F-4D97-AF65-F5344CB8AC3E}">
        <p14:creationId xmlns:p14="http://schemas.microsoft.com/office/powerpoint/2010/main" val="129060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3-title">
            <a:extLst>
              <a:ext uri="{FF2B5EF4-FFF2-40B4-BE49-F238E27FC236}">
                <a16:creationId xmlns:a16="http://schemas.microsoft.com/office/drawing/2014/main" id="{794C708F-129C-4120-ACA0-4EEBC81D01C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Solución: un flujo único para planificar y registrar</a:t>
            </a:r>
          </a:p>
        </p:txBody>
      </p:sp>
      <p:cxnSp>
        <p:nvCxnSpPr>
          <p:cNvPr id="79" name="slide-3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3-footer-right">
            <a:extLst>
              <a:ext uri="{FF2B5EF4-FFF2-40B4-BE49-F238E27FC236}">
                <a16:creationId xmlns:a16="http://schemas.microsoft.com/office/drawing/2014/main" id="{BC9135F4-3AD4-4A46-9110-95D31189F4CA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82" name="mvp-flow-line"/>
          <p:cNvCxnSpPr/>
          <p:nvPr/>
        </p:nvCxnSpPr>
        <p:spPr>
          <a:xfrm>
            <a:off x="1352550" y="2590800"/>
            <a:ext cx="931545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6" name="mvp-node-1">
            <a:extLst>
              <a:ext uri="{FF2B5EF4-FFF2-40B4-BE49-F238E27FC236}">
                <a16:creationId xmlns:a16="http://schemas.microsoft.com/office/drawing/2014/main" id="{2EFABB41-2B09-47FF-8582-11B852AF1E20}"/>
              </a:ext>
            </a:extLst>
          </p:cNvPr>
          <p:cNvSpPr>
            <a:spLocks noGrp="1"/>
          </p:cNvSpPr>
          <p:nvPr/>
        </p:nvSpPr>
        <p:spPr>
          <a:xfrm>
            <a:off x="1400175" y="2466975"/>
            <a:ext cx="247650" cy="247650"/>
          </a:xfrm>
          <a:prstGeom prst="ellipse">
            <a:avLst/>
          </a:prstGeom>
          <a:solidFill>
            <a:srgbClr val="155BC4"/>
          </a:solidFill>
          <a:ln w="9525">
            <a:solidFill>
              <a:srgbClr val="155B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mvp-node-2">
            <a:extLst>
              <a:ext uri="{FF2B5EF4-FFF2-40B4-BE49-F238E27FC236}">
                <a16:creationId xmlns:a16="http://schemas.microsoft.com/office/drawing/2014/main" id="{C66E6A96-91C8-4629-81A3-02E179D5696C}"/>
              </a:ext>
            </a:extLst>
          </p:cNvPr>
          <p:cNvSpPr>
            <a:spLocks noGrp="1"/>
          </p:cNvSpPr>
          <p:nvPr/>
        </p:nvSpPr>
        <p:spPr>
          <a:xfrm>
            <a:off x="4352925" y="2466975"/>
            <a:ext cx="247650" cy="2476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mvp-node-3">
            <a:extLst>
              <a:ext uri="{FF2B5EF4-FFF2-40B4-BE49-F238E27FC236}">
                <a16:creationId xmlns:a16="http://schemas.microsoft.com/office/drawing/2014/main" id="{7A30B24F-D8F5-47C4-8D05-3E6CF7212533}"/>
              </a:ext>
            </a:extLst>
          </p:cNvPr>
          <p:cNvSpPr>
            <a:spLocks noGrp="1"/>
          </p:cNvSpPr>
          <p:nvPr/>
        </p:nvSpPr>
        <p:spPr>
          <a:xfrm>
            <a:off x="7305675" y="2466975"/>
            <a:ext cx="247650" cy="2476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mvp-node-4">
            <a:extLst>
              <a:ext uri="{FF2B5EF4-FFF2-40B4-BE49-F238E27FC236}">
                <a16:creationId xmlns:a16="http://schemas.microsoft.com/office/drawing/2014/main" id="{2B062231-9642-4C54-888F-67351DB6DF29}"/>
              </a:ext>
            </a:extLst>
          </p:cNvPr>
          <p:cNvSpPr>
            <a:spLocks noGrp="1"/>
          </p:cNvSpPr>
          <p:nvPr/>
        </p:nvSpPr>
        <p:spPr>
          <a:xfrm>
            <a:off x="10258425" y="2466975"/>
            <a:ext cx="247650" cy="2476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mvp-num-1">
            <a:extLst>
              <a:ext uri="{FF2B5EF4-FFF2-40B4-BE49-F238E27FC236}">
                <a16:creationId xmlns:a16="http://schemas.microsoft.com/office/drawing/2014/main" id="{2E7673BD-6473-41C3-AC21-99FD4A6DD9D2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ctr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mvp-title-1">
            <a:extLst>
              <a:ext uri="{FF2B5EF4-FFF2-40B4-BE49-F238E27FC236}">
                <a16:creationId xmlns:a16="http://schemas.microsoft.com/office/drawing/2014/main" id="{A899D475-81B1-48FB-8810-A5DE07B7E1A5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Configurar</a:t>
            </a:r>
          </a:p>
        </p:txBody>
      </p:sp>
      <p:sp>
        <p:nvSpPr>
          <p:cNvPr id="12" name="mvp-body-1">
            <a:extLst>
              <a:ext uri="{FF2B5EF4-FFF2-40B4-BE49-F238E27FC236}">
                <a16:creationId xmlns:a16="http://schemas.microsoft.com/office/drawing/2014/main" id="{229B9608-CBDE-43C0-9CC4-0C516AA8180B}"/>
              </a:ext>
            </a:extLst>
          </p:cNvPr>
          <p:cNvSpPr>
            <a:spLocks noGrp="1"/>
          </p:cNvSpPr>
          <p:nvPr/>
        </p:nvSpPr>
        <p:spPr>
          <a:xfrm>
            <a:off x="400050" y="3009900"/>
            <a:ext cx="2247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Objetivo, nivel, días, duración, prioridades y ejercicios a evitar.</a:t>
            </a:r>
          </a:p>
        </p:txBody>
      </p:sp>
      <p:sp>
        <p:nvSpPr>
          <p:cNvPr id="13" name="mvp-num-2">
            <a:extLst>
              <a:ext uri="{FF2B5EF4-FFF2-40B4-BE49-F238E27FC236}">
                <a16:creationId xmlns:a16="http://schemas.microsoft.com/office/drawing/2014/main" id="{771C7661-5817-4083-963B-FE1430BB1DEA}"/>
              </a:ext>
            </a:extLst>
          </p:cNvPr>
          <p:cNvSpPr>
            <a:spLocks noGrp="1"/>
          </p:cNvSpPr>
          <p:nvPr/>
        </p:nvSpPr>
        <p:spPr>
          <a:xfrm>
            <a:off x="3352800" y="15049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ctr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mvp-title-2">
            <a:extLst>
              <a:ext uri="{FF2B5EF4-FFF2-40B4-BE49-F238E27FC236}">
                <a16:creationId xmlns:a16="http://schemas.microsoft.com/office/drawing/2014/main" id="{B9800162-13BD-4DFA-879C-144130C94343}"/>
              </a:ext>
            </a:extLst>
          </p:cNvPr>
          <p:cNvSpPr>
            <a:spLocks noGrp="1"/>
          </p:cNvSpPr>
          <p:nvPr/>
        </p:nvSpPr>
        <p:spPr>
          <a:xfrm>
            <a:off x="3352800" y="18288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Generar</a:t>
            </a:r>
          </a:p>
        </p:txBody>
      </p:sp>
      <p:sp>
        <p:nvSpPr>
          <p:cNvPr id="15" name="mvp-body-2">
            <a:extLst>
              <a:ext uri="{FF2B5EF4-FFF2-40B4-BE49-F238E27FC236}">
                <a16:creationId xmlns:a16="http://schemas.microsoft.com/office/drawing/2014/main" id="{690818BC-CA46-4346-AFE5-DFF6B32C6CA9}"/>
              </a:ext>
            </a:extLst>
          </p:cNvPr>
          <p:cNvSpPr>
            <a:spLocks noGrp="1"/>
          </p:cNvSpPr>
          <p:nvPr/>
        </p:nvSpPr>
        <p:spPr>
          <a:xfrm>
            <a:off x="3352800" y="3009900"/>
            <a:ext cx="2247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Propuesta semanal con ejercicios, series, repeticiones y descansos.</a:t>
            </a:r>
          </a:p>
        </p:txBody>
      </p:sp>
      <p:sp>
        <p:nvSpPr>
          <p:cNvPr id="16" name="mvp-num-3">
            <a:extLst>
              <a:ext uri="{FF2B5EF4-FFF2-40B4-BE49-F238E27FC236}">
                <a16:creationId xmlns:a16="http://schemas.microsoft.com/office/drawing/2014/main" id="{41A0FB9B-6E73-476A-8D58-2F0EE7047E38}"/>
              </a:ext>
            </a:extLst>
          </p:cNvPr>
          <p:cNvSpPr>
            <a:spLocks noGrp="1"/>
          </p:cNvSpPr>
          <p:nvPr/>
        </p:nvSpPr>
        <p:spPr>
          <a:xfrm>
            <a:off x="6305550" y="15049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ctr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mvp-title-3">
            <a:extLst>
              <a:ext uri="{FF2B5EF4-FFF2-40B4-BE49-F238E27FC236}">
                <a16:creationId xmlns:a16="http://schemas.microsoft.com/office/drawing/2014/main" id="{77363E19-BDE3-42B9-9C75-BDA4188A0BBE}"/>
              </a:ext>
            </a:extLst>
          </p:cNvPr>
          <p:cNvSpPr>
            <a:spLocks noGrp="1"/>
          </p:cNvSpPr>
          <p:nvPr/>
        </p:nvSpPr>
        <p:spPr>
          <a:xfrm>
            <a:off x="6305550" y="18288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8" name="mvp-body-3">
            <a:extLst>
              <a:ext uri="{FF2B5EF4-FFF2-40B4-BE49-F238E27FC236}">
                <a16:creationId xmlns:a16="http://schemas.microsoft.com/office/drawing/2014/main" id="{85F962CB-8527-4779-AA21-8BA92F7A4170}"/>
              </a:ext>
            </a:extLst>
          </p:cNvPr>
          <p:cNvSpPr>
            <a:spLocks noGrp="1"/>
          </p:cNvSpPr>
          <p:nvPr/>
        </p:nvSpPr>
        <p:spPr>
          <a:xfrm>
            <a:off x="6305550" y="3009900"/>
            <a:ext cx="2247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Sesiones, cargas, esfuerzo percibido y observaciones.</a:t>
            </a:r>
          </a:p>
        </p:txBody>
      </p:sp>
      <p:sp>
        <p:nvSpPr>
          <p:cNvPr id="19" name="mvp-num-4">
            <a:extLst>
              <a:ext uri="{FF2B5EF4-FFF2-40B4-BE49-F238E27FC236}">
                <a16:creationId xmlns:a16="http://schemas.microsoft.com/office/drawing/2014/main" id="{FAF51118-1100-481E-839D-D6C762D25022}"/>
              </a:ext>
            </a:extLst>
          </p:cNvPr>
          <p:cNvSpPr>
            <a:spLocks noGrp="1"/>
          </p:cNvSpPr>
          <p:nvPr/>
        </p:nvSpPr>
        <p:spPr>
          <a:xfrm>
            <a:off x="9258300" y="15049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ctr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mvp-title-4">
            <a:extLst>
              <a:ext uri="{FF2B5EF4-FFF2-40B4-BE49-F238E27FC236}">
                <a16:creationId xmlns:a16="http://schemas.microsoft.com/office/drawing/2014/main" id="{C006F599-7813-4C28-92A3-B4C176FF5406}"/>
              </a:ext>
            </a:extLst>
          </p:cNvPr>
          <p:cNvSpPr>
            <a:spLocks noGrp="1"/>
          </p:cNvSpPr>
          <p:nvPr/>
        </p:nvSpPr>
        <p:spPr>
          <a:xfrm>
            <a:off x="9258300" y="182880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21" name="mvp-body-4">
            <a:extLst>
              <a:ext uri="{FF2B5EF4-FFF2-40B4-BE49-F238E27FC236}">
                <a16:creationId xmlns:a16="http://schemas.microsoft.com/office/drawing/2014/main" id="{4FB2A4C5-7BE0-433A-9C47-3451B7ACE801}"/>
              </a:ext>
            </a:extLst>
          </p:cNvPr>
          <p:cNvSpPr>
            <a:spLocks noGrp="1"/>
          </p:cNvSpPr>
          <p:nvPr/>
        </p:nvSpPr>
        <p:spPr>
          <a:xfrm>
            <a:off x="9258300" y="3009900"/>
            <a:ext cx="2247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Planificación semanal e historial de entrenamiento.</a:t>
            </a:r>
          </a:p>
        </p:txBody>
      </p:sp>
      <p:sp>
        <p:nvSpPr>
          <p:cNvPr id="22" name="mvp-scope-band">
            <a:extLst>
              <a:ext uri="{FF2B5EF4-FFF2-40B4-BE49-F238E27FC236}">
                <a16:creationId xmlns:a16="http://schemas.microsoft.com/office/drawing/2014/main" id="{1940DDB6-F301-4E81-BA01-254AD3BD4FDE}"/>
              </a:ext>
            </a:extLst>
          </p:cNvPr>
          <p:cNvSpPr>
            <a:spLocks noGrp="1"/>
          </p:cNvSpPr>
          <p:nvPr/>
        </p:nvSpPr>
        <p:spPr>
          <a:xfrm>
            <a:off x="533400" y="4495800"/>
            <a:ext cx="11125200" cy="1333500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catalogue-count">
            <a:extLst>
              <a:ext uri="{FF2B5EF4-FFF2-40B4-BE49-F238E27FC236}">
                <a16:creationId xmlns:a16="http://schemas.microsoft.com/office/drawing/2014/main" id="{8ACB87E3-0034-406D-8063-8F2F53C37C06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14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972"/>
          </a:bodyPr>
          <a:lstStyle/>
          <a:p>
            <a:pPr algn="l">
              <a:buNone/>
              <a:defRPr sz="360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4" name="catalogue-copy">
            <a:extLst>
              <a:ext uri="{FF2B5EF4-FFF2-40B4-BE49-F238E27FC236}">
                <a16:creationId xmlns:a16="http://schemas.microsoft.com/office/drawing/2014/main" id="{61BA2A3F-E7C3-4F5D-93EF-43BB01B86F0E}"/>
              </a:ext>
            </a:extLst>
          </p:cNvPr>
          <p:cNvSpPr>
            <a:spLocks noGrp="1"/>
          </p:cNvSpPr>
          <p:nvPr/>
        </p:nvSpPr>
        <p:spPr>
          <a:xfrm>
            <a:off x="1809750" y="47434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semanas para desarrollar</a:t>
            </a:r>
          </a:p>
          <a:p>
            <a:pPr algn="l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 validar el prototipo</a:t>
            </a:r>
          </a:p>
        </p:txBody>
      </p:sp>
      <p:cxnSp>
        <p:nvCxnSpPr>
          <p:cNvPr id="102" name="mvp-scope-divider"/>
          <p:cNvCxnSpPr/>
          <p:nvPr/>
        </p:nvCxnSpPr>
        <p:spPr>
          <a:xfrm>
            <a:off x="4991100" y="4667250"/>
            <a:ext cx="0" cy="87630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6" name="catalogue-max">
            <a:extLst>
              <a:ext uri="{FF2B5EF4-FFF2-40B4-BE49-F238E27FC236}">
                <a16:creationId xmlns:a16="http://schemas.microsoft.com/office/drawing/2014/main" id="{65A9644E-E8CC-4EBF-A706-8FC6E010FB44}"/>
              </a:ext>
            </a:extLst>
          </p:cNvPr>
          <p:cNvSpPr>
            <a:spLocks noGrp="1"/>
          </p:cNvSpPr>
          <p:nvPr/>
        </p:nvSpPr>
        <p:spPr>
          <a:xfrm>
            <a:off x="5295900" y="474345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687"/>
          </a:bodyPr>
          <a:lstStyle/>
          <a:p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MVP Android · catálogo base de 32 y máximo de 36 ejercicios</a:t>
            </a:r>
          </a:p>
        </p:txBody>
      </p:sp>
      <p:sp>
        <p:nvSpPr>
          <p:cNvPr id="27" name="mvp-exclusion">
            <a:extLst>
              <a:ext uri="{FF2B5EF4-FFF2-40B4-BE49-F238E27FC236}">
                <a16:creationId xmlns:a16="http://schemas.microsoft.com/office/drawing/2014/main" id="{F08758C4-7BFE-4DC6-9658-1F38FC2563FA}"/>
              </a:ext>
            </a:extLst>
          </p:cNvPr>
          <p:cNvSpPr>
            <a:spLocks noGrp="1"/>
          </p:cNvSpPr>
          <p:nvPr/>
        </p:nvSpPr>
        <p:spPr>
          <a:xfrm>
            <a:off x="5295900" y="5314950"/>
            <a:ext cx="5829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897"/>
          </a:bodyPr>
          <a:lstStyle/>
          <a:p>
            <a:pPr algn="l">
              <a:buNone/>
              <a:defRPr sz="11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Límite: no realiza diagnósticos, evaluación de lesiones, rehabilitación ni recomendaciones médicas.</a:t>
            </a:r>
          </a:p>
        </p:txBody>
      </p:sp>
    </p:spTree>
    <p:extLst>
      <p:ext uri="{BB962C8B-B14F-4D97-AF65-F5344CB8AC3E}">
        <p14:creationId xmlns:p14="http://schemas.microsoft.com/office/powerpoint/2010/main" val="175477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6-title">
            <a:extLst>
              <a:ext uri="{FF2B5EF4-FFF2-40B4-BE49-F238E27FC236}">
                <a16:creationId xmlns:a16="http://schemas.microsoft.com/office/drawing/2014/main" id="{AE6E2A94-FD43-4EE1-8338-4106FA7F7AA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Metodología incremental y roles en un proyecto individual</a:t>
            </a:r>
          </a:p>
        </p:txBody>
      </p:sp>
      <p:cxnSp>
        <p:nvCxnSpPr>
          <p:cNvPr id="70" name="slide-6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6-footer-right">
            <a:extLst>
              <a:ext uri="{FF2B5EF4-FFF2-40B4-BE49-F238E27FC236}">
                <a16:creationId xmlns:a16="http://schemas.microsoft.com/office/drawing/2014/main" id="{849E15FE-1B10-46E3-9C7E-AA752BB5E17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73" name="method-line"/>
          <p:cNvCxnSpPr/>
          <p:nvPr/>
        </p:nvCxnSpPr>
        <p:spPr>
          <a:xfrm>
            <a:off x="1409700" y="2381250"/>
            <a:ext cx="9334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6" name="method-node-1">
            <a:extLst>
              <a:ext uri="{FF2B5EF4-FFF2-40B4-BE49-F238E27FC236}">
                <a16:creationId xmlns:a16="http://schemas.microsoft.com/office/drawing/2014/main" id="{5C8BB6BC-515A-4EAD-A72C-B7EB4DFA5C49}"/>
              </a:ext>
            </a:extLst>
          </p:cNvPr>
          <p:cNvSpPr>
            <a:spLocks noGrp="1"/>
          </p:cNvSpPr>
          <p:nvPr/>
        </p:nvSpPr>
        <p:spPr>
          <a:xfrm>
            <a:off x="1362075" y="2219325"/>
            <a:ext cx="323850" cy="323850"/>
          </a:xfrm>
          <a:prstGeom prst="ellipse">
            <a:avLst/>
          </a:prstGeom>
          <a:solidFill>
            <a:srgbClr val="155BC4"/>
          </a:solidFill>
          <a:ln w="9525">
            <a:solidFill>
              <a:srgbClr val="155B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method-title-1">
            <a:extLst>
              <a:ext uri="{FF2B5EF4-FFF2-40B4-BE49-F238E27FC236}">
                <a16:creationId xmlns:a16="http://schemas.microsoft.com/office/drawing/2014/main" id="{6DDE1571-20D6-44FE-920C-90609A0D300F}"/>
              </a:ext>
            </a:extLst>
          </p:cNvPr>
          <p:cNvSpPr>
            <a:spLocks noGrp="1"/>
          </p:cNvSpPr>
          <p:nvPr/>
        </p:nvSpPr>
        <p:spPr>
          <a:xfrm>
            <a:off x="38100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Priorizar</a:t>
            </a:r>
          </a:p>
        </p:txBody>
      </p:sp>
      <p:sp>
        <p:nvSpPr>
          <p:cNvPr id="8" name="method-detail-1">
            <a:extLst>
              <a:ext uri="{FF2B5EF4-FFF2-40B4-BE49-F238E27FC236}">
                <a16:creationId xmlns:a16="http://schemas.microsoft.com/office/drawing/2014/main" id="{B2C2448A-D068-4BF4-A776-DAC33DED7A53}"/>
              </a:ext>
            </a:extLst>
          </p:cNvPr>
          <p:cNvSpPr>
            <a:spLocks noGrp="1"/>
          </p:cNvSpPr>
          <p:nvPr/>
        </p:nvSpPr>
        <p:spPr>
          <a:xfrm>
            <a:off x="38100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Requerimientos y tareas</a:t>
            </a:r>
          </a:p>
        </p:txBody>
      </p:sp>
      <p:sp>
        <p:nvSpPr>
          <p:cNvPr id="9" name="method-node-2">
            <a:extLst>
              <a:ext uri="{FF2B5EF4-FFF2-40B4-BE49-F238E27FC236}">
                <a16:creationId xmlns:a16="http://schemas.microsoft.com/office/drawing/2014/main" id="{E895E2AD-1F8B-4AED-A75A-DD59F71D846E}"/>
              </a:ext>
            </a:extLst>
          </p:cNvPr>
          <p:cNvSpPr>
            <a:spLocks noGrp="1"/>
          </p:cNvSpPr>
          <p:nvPr/>
        </p:nvSpPr>
        <p:spPr>
          <a:xfrm>
            <a:off x="4314825" y="2219325"/>
            <a:ext cx="323850" cy="3238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method-title-2">
            <a:extLst>
              <a:ext uri="{FF2B5EF4-FFF2-40B4-BE49-F238E27FC236}">
                <a16:creationId xmlns:a16="http://schemas.microsoft.com/office/drawing/2014/main" id="{B750B01E-72D7-4187-BAAB-E8A3B347F3E1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Desarrollar</a:t>
            </a:r>
          </a:p>
        </p:txBody>
      </p:sp>
      <p:sp>
        <p:nvSpPr>
          <p:cNvPr id="11" name="method-detail-2">
            <a:extLst>
              <a:ext uri="{FF2B5EF4-FFF2-40B4-BE49-F238E27FC236}">
                <a16:creationId xmlns:a16="http://schemas.microsoft.com/office/drawing/2014/main" id="{9F04437F-4862-4E88-B854-079A7600F7E7}"/>
              </a:ext>
            </a:extLst>
          </p:cNvPr>
          <p:cNvSpPr>
            <a:spLocks noGrp="1"/>
          </p:cNvSpPr>
          <p:nvPr/>
        </p:nvSpPr>
        <p:spPr>
          <a:xfrm>
            <a:off x="333375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Módulos pequeños</a:t>
            </a:r>
          </a:p>
        </p:txBody>
      </p:sp>
      <p:sp>
        <p:nvSpPr>
          <p:cNvPr id="12" name="method-node-3">
            <a:extLst>
              <a:ext uri="{FF2B5EF4-FFF2-40B4-BE49-F238E27FC236}">
                <a16:creationId xmlns:a16="http://schemas.microsoft.com/office/drawing/2014/main" id="{B8E724DC-1CE3-4A33-A635-CF483F0F2ED1}"/>
              </a:ext>
            </a:extLst>
          </p:cNvPr>
          <p:cNvSpPr>
            <a:spLocks noGrp="1"/>
          </p:cNvSpPr>
          <p:nvPr/>
        </p:nvSpPr>
        <p:spPr>
          <a:xfrm>
            <a:off x="7267575" y="2219325"/>
            <a:ext cx="323850" cy="3238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method-title-3">
            <a:extLst>
              <a:ext uri="{FF2B5EF4-FFF2-40B4-BE49-F238E27FC236}">
                <a16:creationId xmlns:a16="http://schemas.microsoft.com/office/drawing/2014/main" id="{0ECA0F47-888F-487C-AD09-35757AAE8C5F}"/>
              </a:ext>
            </a:extLst>
          </p:cNvPr>
          <p:cNvSpPr>
            <a:spLocks noGrp="1"/>
          </p:cNvSpPr>
          <p:nvPr/>
        </p:nvSpPr>
        <p:spPr>
          <a:xfrm>
            <a:off x="628650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Probar</a:t>
            </a:r>
          </a:p>
        </p:txBody>
      </p:sp>
      <p:sp>
        <p:nvSpPr>
          <p:cNvPr id="14" name="method-detail-3">
            <a:extLst>
              <a:ext uri="{FF2B5EF4-FFF2-40B4-BE49-F238E27FC236}">
                <a16:creationId xmlns:a16="http://schemas.microsoft.com/office/drawing/2014/main" id="{8CDAC495-D567-45DF-9FE2-B4CB7997061E}"/>
              </a:ext>
            </a:extLst>
          </p:cNvPr>
          <p:cNvSpPr>
            <a:spLocks noGrp="1"/>
          </p:cNvSpPr>
          <p:nvPr/>
        </p:nvSpPr>
        <p:spPr>
          <a:xfrm>
            <a:off x="628650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Funcionalidad e integración</a:t>
            </a:r>
          </a:p>
        </p:txBody>
      </p:sp>
      <p:sp>
        <p:nvSpPr>
          <p:cNvPr id="15" name="method-node-4">
            <a:extLst>
              <a:ext uri="{FF2B5EF4-FFF2-40B4-BE49-F238E27FC236}">
                <a16:creationId xmlns:a16="http://schemas.microsoft.com/office/drawing/2014/main" id="{7CC6FAB3-F0D9-4796-9D71-DDF03F03AD69}"/>
              </a:ext>
            </a:extLst>
          </p:cNvPr>
          <p:cNvSpPr>
            <a:spLocks noGrp="1"/>
          </p:cNvSpPr>
          <p:nvPr/>
        </p:nvSpPr>
        <p:spPr>
          <a:xfrm>
            <a:off x="10220325" y="2219325"/>
            <a:ext cx="323850" cy="3238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method-title-4">
            <a:extLst>
              <a:ext uri="{FF2B5EF4-FFF2-40B4-BE49-F238E27FC236}">
                <a16:creationId xmlns:a16="http://schemas.microsoft.com/office/drawing/2014/main" id="{4EFB857D-5D23-4F99-ACC4-C7FF8E10B31B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17" name="method-detail-4">
            <a:extLst>
              <a:ext uri="{FF2B5EF4-FFF2-40B4-BE49-F238E27FC236}">
                <a16:creationId xmlns:a16="http://schemas.microsoft.com/office/drawing/2014/main" id="{FFDA20E6-7E00-4DC9-A7AF-10AAA3059B34}"/>
              </a:ext>
            </a:extLst>
          </p:cNvPr>
          <p:cNvSpPr>
            <a:spLocks noGrp="1"/>
          </p:cNvSpPr>
          <p:nvPr/>
        </p:nvSpPr>
        <p:spPr>
          <a:xfrm>
            <a:off x="923925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Errores y pendientes</a:t>
            </a:r>
          </a:p>
        </p:txBody>
      </p:sp>
      <p:sp>
        <p:nvSpPr>
          <p:cNvPr id="18" name="stack-band">
            <a:extLst>
              <a:ext uri="{FF2B5EF4-FFF2-40B4-BE49-F238E27FC236}">
                <a16:creationId xmlns:a16="http://schemas.microsoft.com/office/drawing/2014/main" id="{853DE97C-2729-4CF0-BFF2-14FFB1D481AF}"/>
              </a:ext>
            </a:extLst>
          </p:cNvPr>
          <p:cNvSpPr>
            <a:spLocks noGrp="1"/>
          </p:cNvSpPr>
          <p:nvPr/>
        </p:nvSpPr>
        <p:spPr>
          <a:xfrm>
            <a:off x="533400" y="3924300"/>
            <a:ext cx="11125200" cy="16192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tack-label">
            <a:extLst>
              <a:ext uri="{FF2B5EF4-FFF2-40B4-BE49-F238E27FC236}">
                <a16:creationId xmlns:a16="http://schemas.microsoft.com/office/drawing/2014/main" id="{A86EE3A7-9D3C-4C71-A835-2E8FC707BFA3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RESPONSABILIDAD PRINCIPAL</a:t>
            </a:r>
          </a:p>
        </p:txBody>
      </p:sp>
      <p:sp>
        <p:nvSpPr>
          <p:cNvPr id="20" name="stack-main">
            <a:extLst>
              <a:ext uri="{FF2B5EF4-FFF2-40B4-BE49-F238E27FC236}">
                <a16:creationId xmlns:a16="http://schemas.microsoft.com/office/drawing/2014/main" id="{D185686E-7C5D-4EFE-8827-7E27118CC8B0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Karla: gestión · UX/UI · desarrollo · pruebas</a:t>
            </a:r>
          </a:p>
        </p:txBody>
      </p:sp>
      <p:sp>
        <p:nvSpPr>
          <p:cNvPr id="21" name="stack-rationale">
            <a:extLst>
              <a:ext uri="{FF2B5EF4-FFF2-40B4-BE49-F238E27FC236}">
                <a16:creationId xmlns:a16="http://schemas.microsoft.com/office/drawing/2014/main" id="{9C059D12-5AFB-427A-8DB2-26A0738E278D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704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392"/>
          </a:bodyPr>
          <a:lstStyle/>
          <a:p>
            <a:pPr algn="l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También documenta evidencias, controla el alcance y toma las decisiones técnicas.</a:t>
            </a:r>
          </a:p>
        </p:txBody>
      </p:sp>
      <p:cxnSp>
        <p:nvCxnSpPr>
          <p:cNvPr id="90" name="stack-divider"/>
          <p:cNvCxnSpPr/>
          <p:nvPr/>
        </p:nvCxnSpPr>
        <p:spPr>
          <a:xfrm>
            <a:off x="8172450" y="4171950"/>
            <a:ext cx="0" cy="112395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3" name="generator-label">
            <a:extLst>
              <a:ext uri="{FF2B5EF4-FFF2-40B4-BE49-F238E27FC236}">
                <a16:creationId xmlns:a16="http://schemas.microsoft.com/office/drawing/2014/main" id="{B421AC1D-32ED-40F4-A3EF-2A56B02E406F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APOYO PUNTUAL</a:t>
            </a:r>
          </a:p>
        </p:txBody>
      </p:sp>
      <p:sp>
        <p:nvSpPr>
          <p:cNvPr id="24" name="generator-text">
            <a:extLst>
              <a:ext uri="{FF2B5EF4-FFF2-40B4-BE49-F238E27FC236}">
                <a16:creationId xmlns:a16="http://schemas.microsoft.com/office/drawing/2014/main" id="{188A69CA-A5F1-4736-A85E-C3257C26F34A}"/>
              </a:ext>
            </a:extLst>
          </p:cNvPr>
          <p:cNvSpPr>
            <a:spLocks noGrp="1"/>
          </p:cNvSpPr>
          <p:nvPr/>
        </p:nvSpPr>
        <p:spPr>
          <a:xfrm>
            <a:off x="8477250" y="4591050"/>
            <a:ext cx="26860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80"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Preparador físico: consultas específicas, sin rol permanente ni validación integral.</a:t>
            </a:r>
          </a:p>
        </p:txBody>
      </p:sp>
    </p:spTree>
    <p:extLst>
      <p:ext uri="{BB962C8B-B14F-4D97-AF65-F5344CB8AC3E}">
        <p14:creationId xmlns:p14="http://schemas.microsoft.com/office/powerpoint/2010/main" val="154250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-8-title">
            <a:extLst>
              <a:ext uri="{FF2B5EF4-FFF2-40B4-BE49-F238E27FC236}">
                <a16:creationId xmlns:a16="http://schemas.microsoft.com/office/drawing/2014/main" id="{A6FB1AB8-D341-4ABE-81A2-1FF81763958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 e hitos verificables en 18 semanas</a:t>
            </a:r>
          </a:p>
        </p:txBody>
      </p:sp>
      <p:cxnSp>
        <p:nvCxnSpPr>
          <p:cNvPr id="139" name="slide-8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8-footer-right">
            <a:extLst>
              <a:ext uri="{FF2B5EF4-FFF2-40B4-BE49-F238E27FC236}">
                <a16:creationId xmlns:a16="http://schemas.microsoft.com/office/drawing/2014/main" id="{B7CF3037-5ABC-4D20-B78C-E5AD16B487AB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142" name="gantt-v-0"/>
          <p:cNvCxnSpPr/>
          <p:nvPr/>
        </p:nvCxnSpPr>
        <p:spPr>
          <a:xfrm>
            <a:off x="285750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43" name="gantt-v-1"/>
          <p:cNvCxnSpPr/>
          <p:nvPr/>
        </p:nvCxnSpPr>
        <p:spPr>
          <a:xfrm>
            <a:off x="334327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44" name="gantt-v-2"/>
          <p:cNvCxnSpPr/>
          <p:nvPr/>
        </p:nvCxnSpPr>
        <p:spPr>
          <a:xfrm>
            <a:off x="382905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45" name="gantt-v-3"/>
          <p:cNvCxnSpPr/>
          <p:nvPr/>
        </p:nvCxnSpPr>
        <p:spPr>
          <a:xfrm>
            <a:off x="431482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46" name="gantt-v-4"/>
          <p:cNvCxnSpPr/>
          <p:nvPr/>
        </p:nvCxnSpPr>
        <p:spPr>
          <a:xfrm>
            <a:off x="480060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47" name="gantt-v-5"/>
          <p:cNvCxnSpPr/>
          <p:nvPr/>
        </p:nvCxnSpPr>
        <p:spPr>
          <a:xfrm>
            <a:off x="528637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48" name="gantt-v-6"/>
          <p:cNvCxnSpPr/>
          <p:nvPr/>
        </p:nvCxnSpPr>
        <p:spPr>
          <a:xfrm>
            <a:off x="577215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49" name="gantt-v-7"/>
          <p:cNvCxnSpPr/>
          <p:nvPr/>
        </p:nvCxnSpPr>
        <p:spPr>
          <a:xfrm>
            <a:off x="625792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0" name="gantt-v-8"/>
          <p:cNvCxnSpPr/>
          <p:nvPr/>
        </p:nvCxnSpPr>
        <p:spPr>
          <a:xfrm>
            <a:off x="674370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1" name="gantt-v-9"/>
          <p:cNvCxnSpPr/>
          <p:nvPr/>
        </p:nvCxnSpPr>
        <p:spPr>
          <a:xfrm>
            <a:off x="722947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2" name="gantt-v-10"/>
          <p:cNvCxnSpPr/>
          <p:nvPr/>
        </p:nvCxnSpPr>
        <p:spPr>
          <a:xfrm>
            <a:off x="771525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3" name="gantt-v-11"/>
          <p:cNvCxnSpPr/>
          <p:nvPr/>
        </p:nvCxnSpPr>
        <p:spPr>
          <a:xfrm>
            <a:off x="820102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4" name="gantt-v-12"/>
          <p:cNvCxnSpPr/>
          <p:nvPr/>
        </p:nvCxnSpPr>
        <p:spPr>
          <a:xfrm>
            <a:off x="868680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5" name="gantt-v-13"/>
          <p:cNvCxnSpPr/>
          <p:nvPr/>
        </p:nvCxnSpPr>
        <p:spPr>
          <a:xfrm>
            <a:off x="917257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6" name="gantt-v-14"/>
          <p:cNvCxnSpPr/>
          <p:nvPr/>
        </p:nvCxnSpPr>
        <p:spPr>
          <a:xfrm>
            <a:off x="965835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7" name="gantt-v-15"/>
          <p:cNvCxnSpPr/>
          <p:nvPr/>
        </p:nvCxnSpPr>
        <p:spPr>
          <a:xfrm>
            <a:off x="1014412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8" name="gantt-v-16"/>
          <p:cNvCxnSpPr/>
          <p:nvPr/>
        </p:nvCxnSpPr>
        <p:spPr>
          <a:xfrm>
            <a:off x="1062990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59" name="gantt-v-17"/>
          <p:cNvCxnSpPr/>
          <p:nvPr/>
        </p:nvCxnSpPr>
        <p:spPr>
          <a:xfrm>
            <a:off x="11115675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60" name="gantt-v-18"/>
          <p:cNvCxnSpPr/>
          <p:nvPr/>
        </p:nvCxnSpPr>
        <p:spPr>
          <a:xfrm>
            <a:off x="11601450" y="1619250"/>
            <a:ext cx="0" cy="333375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61" name="gantt-h-0"/>
          <p:cNvCxnSpPr/>
          <p:nvPr/>
        </p:nvCxnSpPr>
        <p:spPr>
          <a:xfrm>
            <a:off x="533400" y="1905000"/>
            <a:ext cx="11068050" cy="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62" name="gantt-h-1"/>
          <p:cNvCxnSpPr/>
          <p:nvPr/>
        </p:nvCxnSpPr>
        <p:spPr>
          <a:xfrm>
            <a:off x="533400" y="2514600"/>
            <a:ext cx="11068050" cy="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63" name="gantt-h-2"/>
          <p:cNvCxnSpPr/>
          <p:nvPr/>
        </p:nvCxnSpPr>
        <p:spPr>
          <a:xfrm>
            <a:off x="533400" y="3124200"/>
            <a:ext cx="11068050" cy="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64" name="gantt-h-3"/>
          <p:cNvCxnSpPr/>
          <p:nvPr/>
        </p:nvCxnSpPr>
        <p:spPr>
          <a:xfrm>
            <a:off x="533400" y="3733800"/>
            <a:ext cx="11068050" cy="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65" name="gantt-h-4"/>
          <p:cNvCxnSpPr/>
          <p:nvPr/>
        </p:nvCxnSpPr>
        <p:spPr>
          <a:xfrm>
            <a:off x="533400" y="4343400"/>
            <a:ext cx="11068050" cy="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cxnSp>
        <p:nvCxnSpPr>
          <p:cNvPr id="166" name="gantt-h-5"/>
          <p:cNvCxnSpPr/>
          <p:nvPr/>
        </p:nvCxnSpPr>
        <p:spPr>
          <a:xfrm>
            <a:off x="533400" y="4953000"/>
            <a:ext cx="11068050" cy="0"/>
          </a:xfrm>
          <a:prstGeom prst="straightConnector1">
            <a:avLst/>
          </a:prstGeom>
          <a:ln w="6668">
            <a:solidFill>
              <a:srgbClr val="B8BCC4"/>
            </a:solidFill>
            <a:prstDash val="solid"/>
          </a:ln>
        </p:spPr>
      </p:cxnSp>
      <p:sp>
        <p:nvSpPr>
          <p:cNvPr id="30" name="gantt-activity-head">
            <a:extLst>
              <a:ext uri="{FF2B5EF4-FFF2-40B4-BE49-F238E27FC236}">
                <a16:creationId xmlns:a16="http://schemas.microsoft.com/office/drawing/2014/main" id="{E19D6334-72F6-4155-8EDA-05084279AB0C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A637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31" name="gantt-week-1">
            <a:extLst>
              <a:ext uri="{FF2B5EF4-FFF2-40B4-BE49-F238E27FC236}">
                <a16:creationId xmlns:a16="http://schemas.microsoft.com/office/drawing/2014/main" id="{DA3E4D83-0CAE-41FC-8F07-6A0F81B7F095}"/>
              </a:ext>
            </a:extLst>
          </p:cNvPr>
          <p:cNvSpPr>
            <a:spLocks noGrp="1"/>
          </p:cNvSpPr>
          <p:nvPr/>
        </p:nvSpPr>
        <p:spPr>
          <a:xfrm>
            <a:off x="285750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gantt-week-2">
            <a:extLst>
              <a:ext uri="{FF2B5EF4-FFF2-40B4-BE49-F238E27FC236}">
                <a16:creationId xmlns:a16="http://schemas.microsoft.com/office/drawing/2014/main" id="{C99F5E37-F5A4-490B-99A1-AD20DA613383}"/>
              </a:ext>
            </a:extLst>
          </p:cNvPr>
          <p:cNvSpPr>
            <a:spLocks noGrp="1"/>
          </p:cNvSpPr>
          <p:nvPr/>
        </p:nvSpPr>
        <p:spPr>
          <a:xfrm>
            <a:off x="334327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gantt-week-3">
            <a:extLst>
              <a:ext uri="{FF2B5EF4-FFF2-40B4-BE49-F238E27FC236}">
                <a16:creationId xmlns:a16="http://schemas.microsoft.com/office/drawing/2014/main" id="{A08F98F7-829D-44B8-B468-81A39832428F}"/>
              </a:ext>
            </a:extLst>
          </p:cNvPr>
          <p:cNvSpPr>
            <a:spLocks noGrp="1"/>
          </p:cNvSpPr>
          <p:nvPr/>
        </p:nvSpPr>
        <p:spPr>
          <a:xfrm>
            <a:off x="382905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gantt-week-4">
            <a:extLst>
              <a:ext uri="{FF2B5EF4-FFF2-40B4-BE49-F238E27FC236}">
                <a16:creationId xmlns:a16="http://schemas.microsoft.com/office/drawing/2014/main" id="{9E48539A-AA91-4171-9807-4128E009466E}"/>
              </a:ext>
            </a:extLst>
          </p:cNvPr>
          <p:cNvSpPr>
            <a:spLocks noGrp="1"/>
          </p:cNvSpPr>
          <p:nvPr/>
        </p:nvSpPr>
        <p:spPr>
          <a:xfrm>
            <a:off x="431482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gantt-week-5">
            <a:extLst>
              <a:ext uri="{FF2B5EF4-FFF2-40B4-BE49-F238E27FC236}">
                <a16:creationId xmlns:a16="http://schemas.microsoft.com/office/drawing/2014/main" id="{6D1574AE-31AE-4754-9F51-574F4EADC2C8}"/>
              </a:ext>
            </a:extLst>
          </p:cNvPr>
          <p:cNvSpPr>
            <a:spLocks noGrp="1"/>
          </p:cNvSpPr>
          <p:nvPr/>
        </p:nvSpPr>
        <p:spPr>
          <a:xfrm>
            <a:off x="480060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gantt-week-6">
            <a:extLst>
              <a:ext uri="{FF2B5EF4-FFF2-40B4-BE49-F238E27FC236}">
                <a16:creationId xmlns:a16="http://schemas.microsoft.com/office/drawing/2014/main" id="{C8296389-3A75-4759-A3B9-CE392149938C}"/>
              </a:ext>
            </a:extLst>
          </p:cNvPr>
          <p:cNvSpPr>
            <a:spLocks noGrp="1"/>
          </p:cNvSpPr>
          <p:nvPr/>
        </p:nvSpPr>
        <p:spPr>
          <a:xfrm>
            <a:off x="528637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gantt-week-7">
            <a:extLst>
              <a:ext uri="{FF2B5EF4-FFF2-40B4-BE49-F238E27FC236}">
                <a16:creationId xmlns:a16="http://schemas.microsoft.com/office/drawing/2014/main" id="{BCF2D88F-2D55-4794-BAA7-534BD668EFE2}"/>
              </a:ext>
            </a:extLst>
          </p:cNvPr>
          <p:cNvSpPr>
            <a:spLocks noGrp="1"/>
          </p:cNvSpPr>
          <p:nvPr/>
        </p:nvSpPr>
        <p:spPr>
          <a:xfrm>
            <a:off x="577215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8" name="gantt-week-8">
            <a:extLst>
              <a:ext uri="{FF2B5EF4-FFF2-40B4-BE49-F238E27FC236}">
                <a16:creationId xmlns:a16="http://schemas.microsoft.com/office/drawing/2014/main" id="{3DB5A7EE-107C-44CB-8B99-265E3CD6134B}"/>
              </a:ext>
            </a:extLst>
          </p:cNvPr>
          <p:cNvSpPr>
            <a:spLocks noGrp="1"/>
          </p:cNvSpPr>
          <p:nvPr/>
        </p:nvSpPr>
        <p:spPr>
          <a:xfrm>
            <a:off x="625792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9" name="gantt-week-9">
            <a:extLst>
              <a:ext uri="{FF2B5EF4-FFF2-40B4-BE49-F238E27FC236}">
                <a16:creationId xmlns:a16="http://schemas.microsoft.com/office/drawing/2014/main" id="{7CD7172C-94E3-4A4F-8C78-FB42D93068E1}"/>
              </a:ext>
            </a:extLst>
          </p:cNvPr>
          <p:cNvSpPr>
            <a:spLocks noGrp="1"/>
          </p:cNvSpPr>
          <p:nvPr/>
        </p:nvSpPr>
        <p:spPr>
          <a:xfrm>
            <a:off x="674370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0" name="gantt-week-10">
            <a:extLst>
              <a:ext uri="{FF2B5EF4-FFF2-40B4-BE49-F238E27FC236}">
                <a16:creationId xmlns:a16="http://schemas.microsoft.com/office/drawing/2014/main" id="{BF2923AA-67F2-47BA-A4B1-1C8A4D324131}"/>
              </a:ext>
            </a:extLst>
          </p:cNvPr>
          <p:cNvSpPr>
            <a:spLocks noGrp="1"/>
          </p:cNvSpPr>
          <p:nvPr/>
        </p:nvSpPr>
        <p:spPr>
          <a:xfrm>
            <a:off x="722947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1" name="gantt-week-11">
            <a:extLst>
              <a:ext uri="{FF2B5EF4-FFF2-40B4-BE49-F238E27FC236}">
                <a16:creationId xmlns:a16="http://schemas.microsoft.com/office/drawing/2014/main" id="{4847DF86-0CF1-4E4F-BF4A-73474451FB29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2" name="gantt-week-12">
            <a:extLst>
              <a:ext uri="{FF2B5EF4-FFF2-40B4-BE49-F238E27FC236}">
                <a16:creationId xmlns:a16="http://schemas.microsoft.com/office/drawing/2014/main" id="{71FD4CE4-D208-414E-B6AE-3C65AAF4ADF5}"/>
              </a:ext>
            </a:extLst>
          </p:cNvPr>
          <p:cNvSpPr>
            <a:spLocks noGrp="1"/>
          </p:cNvSpPr>
          <p:nvPr/>
        </p:nvSpPr>
        <p:spPr>
          <a:xfrm>
            <a:off x="820102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gantt-week-13">
            <a:extLst>
              <a:ext uri="{FF2B5EF4-FFF2-40B4-BE49-F238E27FC236}">
                <a16:creationId xmlns:a16="http://schemas.microsoft.com/office/drawing/2014/main" id="{F5D6E339-04D5-48F4-9239-02892F371457}"/>
              </a:ext>
            </a:extLst>
          </p:cNvPr>
          <p:cNvSpPr>
            <a:spLocks noGrp="1"/>
          </p:cNvSpPr>
          <p:nvPr/>
        </p:nvSpPr>
        <p:spPr>
          <a:xfrm>
            <a:off x="868680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4" name="gantt-week-14">
            <a:extLst>
              <a:ext uri="{FF2B5EF4-FFF2-40B4-BE49-F238E27FC236}">
                <a16:creationId xmlns:a16="http://schemas.microsoft.com/office/drawing/2014/main" id="{2C30A5F3-9EC3-44B5-9432-4BCC8AAEE603}"/>
              </a:ext>
            </a:extLst>
          </p:cNvPr>
          <p:cNvSpPr>
            <a:spLocks noGrp="1"/>
          </p:cNvSpPr>
          <p:nvPr/>
        </p:nvSpPr>
        <p:spPr>
          <a:xfrm>
            <a:off x="917257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5" name="gantt-week-15">
            <a:extLst>
              <a:ext uri="{FF2B5EF4-FFF2-40B4-BE49-F238E27FC236}">
                <a16:creationId xmlns:a16="http://schemas.microsoft.com/office/drawing/2014/main" id="{38EF538C-2C4B-4177-998A-74E40965144E}"/>
              </a:ext>
            </a:extLst>
          </p:cNvPr>
          <p:cNvSpPr>
            <a:spLocks noGrp="1"/>
          </p:cNvSpPr>
          <p:nvPr/>
        </p:nvSpPr>
        <p:spPr>
          <a:xfrm>
            <a:off x="965835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6" name="gantt-week-16">
            <a:extLst>
              <a:ext uri="{FF2B5EF4-FFF2-40B4-BE49-F238E27FC236}">
                <a16:creationId xmlns:a16="http://schemas.microsoft.com/office/drawing/2014/main" id="{8BCE6D98-F532-4566-9559-7B074F948787}"/>
              </a:ext>
            </a:extLst>
          </p:cNvPr>
          <p:cNvSpPr>
            <a:spLocks noGrp="1"/>
          </p:cNvSpPr>
          <p:nvPr/>
        </p:nvSpPr>
        <p:spPr>
          <a:xfrm>
            <a:off x="1014412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7" name="gantt-week-17">
            <a:extLst>
              <a:ext uri="{FF2B5EF4-FFF2-40B4-BE49-F238E27FC236}">
                <a16:creationId xmlns:a16="http://schemas.microsoft.com/office/drawing/2014/main" id="{B4847AA3-DAD0-4935-A2AB-0D00564A20F2}"/>
              </a:ext>
            </a:extLst>
          </p:cNvPr>
          <p:cNvSpPr>
            <a:spLocks noGrp="1"/>
          </p:cNvSpPr>
          <p:nvPr/>
        </p:nvSpPr>
        <p:spPr>
          <a:xfrm>
            <a:off x="10629900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8" name="gantt-week-18">
            <a:extLst>
              <a:ext uri="{FF2B5EF4-FFF2-40B4-BE49-F238E27FC236}">
                <a16:creationId xmlns:a16="http://schemas.microsoft.com/office/drawing/2014/main" id="{34E1EA0F-DCBB-43D6-9C8C-52B64A9A06D1}"/>
              </a:ext>
            </a:extLst>
          </p:cNvPr>
          <p:cNvSpPr>
            <a:spLocks noGrp="1"/>
          </p:cNvSpPr>
          <p:nvPr/>
        </p:nvSpPr>
        <p:spPr>
          <a:xfrm>
            <a:off x="11115675" y="1619250"/>
            <a:ext cx="485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9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9" name="gantt-label-0">
            <a:extLst>
              <a:ext uri="{FF2B5EF4-FFF2-40B4-BE49-F238E27FC236}">
                <a16:creationId xmlns:a16="http://schemas.microsoft.com/office/drawing/2014/main" id="{CA7ED346-91FE-405C-BFDE-8592F251FDDA}"/>
              </a:ext>
            </a:extLst>
          </p:cNvPr>
          <p:cNvSpPr>
            <a:spLocks noGrp="1"/>
          </p:cNvSpPr>
          <p:nvPr/>
        </p:nvSpPr>
        <p:spPr>
          <a:xfrm>
            <a:off x="533400" y="2057400"/>
            <a:ext cx="2133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Definición y Fase 1</a:t>
            </a:r>
          </a:p>
        </p:txBody>
      </p:sp>
      <p:sp>
        <p:nvSpPr>
          <p:cNvPr id="50" name="gantt-bar-0">
            <a:extLst>
              <a:ext uri="{FF2B5EF4-FFF2-40B4-BE49-F238E27FC236}">
                <a16:creationId xmlns:a16="http://schemas.microsoft.com/office/drawing/2014/main" id="{5925009C-1902-44DF-9B5F-ACDE26236C26}"/>
              </a:ext>
            </a:extLst>
          </p:cNvPr>
          <p:cNvSpPr>
            <a:spLocks noGrp="1"/>
          </p:cNvSpPr>
          <p:nvPr/>
        </p:nvSpPr>
        <p:spPr>
          <a:xfrm>
            <a:off x="2895600" y="2019300"/>
            <a:ext cx="1866900" cy="32385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gantt-bar-text-0">
            <a:extLst>
              <a:ext uri="{FF2B5EF4-FFF2-40B4-BE49-F238E27FC236}">
                <a16:creationId xmlns:a16="http://schemas.microsoft.com/office/drawing/2014/main" id="{B9DEF2BE-BFAA-457F-ABBF-3797493270F0}"/>
              </a:ext>
            </a:extLst>
          </p:cNvPr>
          <p:cNvSpPr>
            <a:spLocks noGrp="1"/>
          </p:cNvSpPr>
          <p:nvPr/>
        </p:nvSpPr>
        <p:spPr>
          <a:xfrm>
            <a:off x="2971800" y="20859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ctr"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S1–S4</a:t>
            </a:r>
          </a:p>
        </p:txBody>
      </p:sp>
      <p:sp>
        <p:nvSpPr>
          <p:cNvPr id="52" name="gantt-label-1">
            <a:extLst>
              <a:ext uri="{FF2B5EF4-FFF2-40B4-BE49-F238E27FC236}">
                <a16:creationId xmlns:a16="http://schemas.microsoft.com/office/drawing/2014/main" id="{1AA8EBD5-5ED7-45E4-A63A-5C05893EC244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133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Configuración y catálogo</a:t>
            </a:r>
          </a:p>
        </p:txBody>
      </p:sp>
      <p:sp>
        <p:nvSpPr>
          <p:cNvPr id="53" name="gantt-bar-1">
            <a:extLst>
              <a:ext uri="{FF2B5EF4-FFF2-40B4-BE49-F238E27FC236}">
                <a16:creationId xmlns:a16="http://schemas.microsoft.com/office/drawing/2014/main" id="{B7151729-75CE-45DD-918D-CDE100795B2F}"/>
              </a:ext>
            </a:extLst>
          </p:cNvPr>
          <p:cNvSpPr>
            <a:spLocks noGrp="1"/>
          </p:cNvSpPr>
          <p:nvPr/>
        </p:nvSpPr>
        <p:spPr>
          <a:xfrm>
            <a:off x="4838700" y="2628900"/>
            <a:ext cx="1381125" cy="3238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gantt-bar-text-1">
            <a:extLst>
              <a:ext uri="{FF2B5EF4-FFF2-40B4-BE49-F238E27FC236}">
                <a16:creationId xmlns:a16="http://schemas.microsoft.com/office/drawing/2014/main" id="{0D689BFA-45D1-4242-8360-E687E365B439}"/>
              </a:ext>
            </a:extLst>
          </p:cNvPr>
          <p:cNvSpPr>
            <a:spLocks noGrp="1"/>
          </p:cNvSpPr>
          <p:nvPr/>
        </p:nvSpPr>
        <p:spPr>
          <a:xfrm>
            <a:off x="4914900" y="2695575"/>
            <a:ext cx="1228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ctr">
              <a:buNone/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S5–S7</a:t>
            </a:r>
          </a:p>
        </p:txBody>
      </p:sp>
      <p:sp>
        <p:nvSpPr>
          <p:cNvPr id="55" name="gantt-label-2">
            <a:extLst>
              <a:ext uri="{FF2B5EF4-FFF2-40B4-BE49-F238E27FC236}">
                <a16:creationId xmlns:a16="http://schemas.microsoft.com/office/drawing/2014/main" id="{6FE81D3F-E5A9-4008-9205-3BA9AD32F9A7}"/>
              </a:ext>
            </a:extLst>
          </p:cNvPr>
          <p:cNvSpPr>
            <a:spLocks noGrp="1"/>
          </p:cNvSpPr>
          <p:nvPr/>
        </p:nvSpPr>
        <p:spPr>
          <a:xfrm>
            <a:off x="533400" y="3276600"/>
            <a:ext cx="2133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Generación y funciones</a:t>
            </a:r>
          </a:p>
        </p:txBody>
      </p:sp>
      <p:sp>
        <p:nvSpPr>
          <p:cNvPr id="56" name="gantt-bar-2">
            <a:extLst>
              <a:ext uri="{FF2B5EF4-FFF2-40B4-BE49-F238E27FC236}">
                <a16:creationId xmlns:a16="http://schemas.microsoft.com/office/drawing/2014/main" id="{88CBC824-0FB4-48D2-AE34-22A0148B6023}"/>
              </a:ext>
            </a:extLst>
          </p:cNvPr>
          <p:cNvSpPr>
            <a:spLocks noGrp="1"/>
          </p:cNvSpPr>
          <p:nvPr/>
        </p:nvSpPr>
        <p:spPr>
          <a:xfrm>
            <a:off x="5810250" y="3238500"/>
            <a:ext cx="2838450" cy="3238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gantt-bar-text-2">
            <a:extLst>
              <a:ext uri="{FF2B5EF4-FFF2-40B4-BE49-F238E27FC236}">
                <a16:creationId xmlns:a16="http://schemas.microsoft.com/office/drawing/2014/main" id="{B1EB5DBC-4DBD-4921-A69B-B9894150618B}"/>
              </a:ext>
            </a:extLst>
          </p:cNvPr>
          <p:cNvSpPr>
            <a:spLocks noGrp="1"/>
          </p:cNvSpPr>
          <p:nvPr/>
        </p:nvSpPr>
        <p:spPr>
          <a:xfrm>
            <a:off x="5886450" y="3305175"/>
            <a:ext cx="2686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S7–S12</a:t>
            </a:r>
          </a:p>
        </p:txBody>
      </p:sp>
      <p:sp>
        <p:nvSpPr>
          <p:cNvPr id="58" name="gantt-label-3">
            <a:extLst>
              <a:ext uri="{FF2B5EF4-FFF2-40B4-BE49-F238E27FC236}">
                <a16:creationId xmlns:a16="http://schemas.microsoft.com/office/drawing/2014/main" id="{13813150-A1FE-4E15-BB35-B061F1C4BBF0}"/>
              </a:ext>
            </a:extLst>
          </p:cNvPr>
          <p:cNvSpPr>
            <a:spLocks noGrp="1"/>
          </p:cNvSpPr>
          <p:nvPr/>
        </p:nvSpPr>
        <p:spPr>
          <a:xfrm>
            <a:off x="533400" y="3886200"/>
            <a:ext cx="2133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Integración y pruebas</a:t>
            </a:r>
          </a:p>
        </p:txBody>
      </p:sp>
      <p:sp>
        <p:nvSpPr>
          <p:cNvPr id="59" name="gantt-bar-3">
            <a:extLst>
              <a:ext uri="{FF2B5EF4-FFF2-40B4-BE49-F238E27FC236}">
                <a16:creationId xmlns:a16="http://schemas.microsoft.com/office/drawing/2014/main" id="{12B581CF-ED82-4A8D-9913-39B6906E5F32}"/>
              </a:ext>
            </a:extLst>
          </p:cNvPr>
          <p:cNvSpPr>
            <a:spLocks noGrp="1"/>
          </p:cNvSpPr>
          <p:nvPr/>
        </p:nvSpPr>
        <p:spPr>
          <a:xfrm>
            <a:off x="7267575" y="3848100"/>
            <a:ext cx="2352675" cy="323850"/>
          </a:xfrm>
          <a:prstGeom prst="rect">
            <a:avLst/>
          </a:prstGeom>
          <a:solidFill>
            <a:srgbClr val="155BC4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gantt-bar-text-3">
            <a:extLst>
              <a:ext uri="{FF2B5EF4-FFF2-40B4-BE49-F238E27FC236}">
                <a16:creationId xmlns:a16="http://schemas.microsoft.com/office/drawing/2014/main" id="{AAA59607-024E-4973-A5C9-E7F34377AB09}"/>
              </a:ext>
            </a:extLst>
          </p:cNvPr>
          <p:cNvSpPr>
            <a:spLocks noGrp="1"/>
          </p:cNvSpPr>
          <p:nvPr/>
        </p:nvSpPr>
        <p:spPr>
          <a:xfrm>
            <a:off x="7343775" y="3914775"/>
            <a:ext cx="2200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S10–S14</a:t>
            </a:r>
          </a:p>
        </p:txBody>
      </p:sp>
      <p:sp>
        <p:nvSpPr>
          <p:cNvPr id="61" name="gantt-label-4">
            <a:extLst>
              <a:ext uri="{FF2B5EF4-FFF2-40B4-BE49-F238E27FC236}">
                <a16:creationId xmlns:a16="http://schemas.microsoft.com/office/drawing/2014/main" id="{525694A7-0CF3-499B-8F2F-9EEB1451C4D3}"/>
              </a:ext>
            </a:extLst>
          </p:cNvPr>
          <p:cNvSpPr>
            <a:spLocks noGrp="1"/>
          </p:cNvSpPr>
          <p:nvPr/>
        </p:nvSpPr>
        <p:spPr>
          <a:xfrm>
            <a:off x="533400" y="4495800"/>
            <a:ext cx="2133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Documentación y cierre</a:t>
            </a:r>
          </a:p>
        </p:txBody>
      </p:sp>
      <p:sp>
        <p:nvSpPr>
          <p:cNvPr id="62" name="gantt-bar-4">
            <a:extLst>
              <a:ext uri="{FF2B5EF4-FFF2-40B4-BE49-F238E27FC236}">
                <a16:creationId xmlns:a16="http://schemas.microsoft.com/office/drawing/2014/main" id="{BF2B74BF-095D-4C4E-A15A-1EE2287720C0}"/>
              </a:ext>
            </a:extLst>
          </p:cNvPr>
          <p:cNvSpPr>
            <a:spLocks noGrp="1"/>
          </p:cNvSpPr>
          <p:nvPr/>
        </p:nvSpPr>
        <p:spPr>
          <a:xfrm>
            <a:off x="8239125" y="4457700"/>
            <a:ext cx="3324225" cy="3238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gantt-bar-text-4">
            <a:extLst>
              <a:ext uri="{FF2B5EF4-FFF2-40B4-BE49-F238E27FC236}">
                <a16:creationId xmlns:a16="http://schemas.microsoft.com/office/drawing/2014/main" id="{07277CD6-6302-41D1-B741-130A4FA0792D}"/>
              </a:ext>
            </a:extLst>
          </p:cNvPr>
          <p:cNvSpPr>
            <a:spLocks noGrp="1"/>
          </p:cNvSpPr>
          <p:nvPr/>
        </p:nvSpPr>
        <p:spPr>
          <a:xfrm>
            <a:off x="8315325" y="4524375"/>
            <a:ext cx="3171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8333"/>
          </a:bodyPr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S12–S18</a:t>
            </a:r>
          </a:p>
        </p:txBody>
      </p:sp>
      <p:sp>
        <p:nvSpPr>
          <p:cNvPr id="64" name="milestones-label">
            <a:extLst>
              <a:ext uri="{FF2B5EF4-FFF2-40B4-BE49-F238E27FC236}">
                <a16:creationId xmlns:a16="http://schemas.microsoft.com/office/drawing/2014/main" id="{B3ED188B-73EC-4E33-B6ED-6661297F9791}"/>
              </a:ext>
            </a:extLst>
          </p:cNvPr>
          <p:cNvSpPr>
            <a:spLocks noGrp="1"/>
          </p:cNvSpPr>
          <p:nvPr/>
        </p:nvSpPr>
        <p:spPr>
          <a:xfrm>
            <a:off x="533400" y="53530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HITOS</a:t>
            </a:r>
          </a:p>
        </p:txBody>
      </p:sp>
      <p:sp>
        <p:nvSpPr>
          <p:cNvPr id="65" name="milestone-dot-0">
            <a:extLst>
              <a:ext uri="{FF2B5EF4-FFF2-40B4-BE49-F238E27FC236}">
                <a16:creationId xmlns:a16="http://schemas.microsoft.com/office/drawing/2014/main" id="{C3003300-6D75-4CF6-B72A-83AA893CA66A}"/>
              </a:ext>
            </a:extLst>
          </p:cNvPr>
          <p:cNvSpPr>
            <a:spLocks noGrp="1"/>
          </p:cNvSpPr>
          <p:nvPr/>
        </p:nvSpPr>
        <p:spPr>
          <a:xfrm>
            <a:off x="1371600" y="5400675"/>
            <a:ext cx="114300" cy="1143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milestone-week-0">
            <a:extLst>
              <a:ext uri="{FF2B5EF4-FFF2-40B4-BE49-F238E27FC236}">
                <a16:creationId xmlns:a16="http://schemas.microsoft.com/office/drawing/2014/main" id="{2140199B-13D0-4F18-8112-A69CA7119393}"/>
              </a:ext>
            </a:extLst>
          </p:cNvPr>
          <p:cNvSpPr>
            <a:spLocks noGrp="1"/>
          </p:cNvSpPr>
          <p:nvPr/>
        </p:nvSpPr>
        <p:spPr>
          <a:xfrm>
            <a:off x="1562100" y="53054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0000"/>
          </a:bodyPr>
          <a:lstStyle/>
          <a:p>
            <a:pPr algn="l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67" name="milestone-name-0">
            <a:extLst>
              <a:ext uri="{FF2B5EF4-FFF2-40B4-BE49-F238E27FC236}">
                <a16:creationId xmlns:a16="http://schemas.microsoft.com/office/drawing/2014/main" id="{273EF5A2-C63C-43BF-BD72-DF017CAF1877}"/>
              </a:ext>
            </a:extLst>
          </p:cNvPr>
          <p:cNvSpPr>
            <a:spLocks noGrp="1"/>
          </p:cNvSpPr>
          <p:nvPr/>
        </p:nvSpPr>
        <p:spPr>
          <a:xfrm>
            <a:off x="1562100" y="5505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Fase 1</a:t>
            </a:r>
          </a:p>
        </p:txBody>
      </p:sp>
      <p:sp>
        <p:nvSpPr>
          <p:cNvPr id="68" name="milestone-dot-1">
            <a:extLst>
              <a:ext uri="{FF2B5EF4-FFF2-40B4-BE49-F238E27FC236}">
                <a16:creationId xmlns:a16="http://schemas.microsoft.com/office/drawing/2014/main" id="{DE3F0144-EFB9-4677-ADED-063DE095B0D2}"/>
              </a:ext>
            </a:extLst>
          </p:cNvPr>
          <p:cNvSpPr>
            <a:spLocks noGrp="1"/>
          </p:cNvSpPr>
          <p:nvPr/>
        </p:nvSpPr>
        <p:spPr>
          <a:xfrm>
            <a:off x="3409950" y="5400675"/>
            <a:ext cx="114300" cy="1143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milestone-week-1">
            <a:extLst>
              <a:ext uri="{FF2B5EF4-FFF2-40B4-BE49-F238E27FC236}">
                <a16:creationId xmlns:a16="http://schemas.microsoft.com/office/drawing/2014/main" id="{D249F543-6D52-4164-9D8D-ADC308B9CEDD}"/>
              </a:ext>
            </a:extLst>
          </p:cNvPr>
          <p:cNvSpPr>
            <a:spLocks noGrp="1"/>
          </p:cNvSpPr>
          <p:nvPr/>
        </p:nvSpPr>
        <p:spPr>
          <a:xfrm>
            <a:off x="3600450" y="53054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0000"/>
          </a:bodyPr>
          <a:lstStyle/>
          <a:p>
            <a:pPr algn="l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S10</a:t>
            </a:r>
          </a:p>
        </p:txBody>
      </p:sp>
      <p:sp>
        <p:nvSpPr>
          <p:cNvPr id="70" name="milestone-name-1">
            <a:extLst>
              <a:ext uri="{FF2B5EF4-FFF2-40B4-BE49-F238E27FC236}">
                <a16:creationId xmlns:a16="http://schemas.microsoft.com/office/drawing/2014/main" id="{D26DF90A-3025-4B79-9C02-BD2FBA38AE4F}"/>
              </a:ext>
            </a:extLst>
          </p:cNvPr>
          <p:cNvSpPr>
            <a:spLocks noGrp="1"/>
          </p:cNvSpPr>
          <p:nvPr/>
        </p:nvSpPr>
        <p:spPr>
          <a:xfrm>
            <a:off x="3600450" y="5505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Avance</a:t>
            </a:r>
          </a:p>
        </p:txBody>
      </p:sp>
      <p:sp>
        <p:nvSpPr>
          <p:cNvPr id="71" name="milestone-dot-2">
            <a:extLst>
              <a:ext uri="{FF2B5EF4-FFF2-40B4-BE49-F238E27FC236}">
                <a16:creationId xmlns:a16="http://schemas.microsoft.com/office/drawing/2014/main" id="{17CC9E57-E15A-436F-9827-6251D7C42B3E}"/>
              </a:ext>
            </a:extLst>
          </p:cNvPr>
          <p:cNvSpPr>
            <a:spLocks noGrp="1"/>
          </p:cNvSpPr>
          <p:nvPr/>
        </p:nvSpPr>
        <p:spPr>
          <a:xfrm>
            <a:off x="5448300" y="5400675"/>
            <a:ext cx="114300" cy="1143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milestone-week-2">
            <a:extLst>
              <a:ext uri="{FF2B5EF4-FFF2-40B4-BE49-F238E27FC236}">
                <a16:creationId xmlns:a16="http://schemas.microsoft.com/office/drawing/2014/main" id="{F5D62B4B-39B2-4B6D-AD06-C571F86451F8}"/>
              </a:ext>
            </a:extLst>
          </p:cNvPr>
          <p:cNvSpPr>
            <a:spLocks noGrp="1"/>
          </p:cNvSpPr>
          <p:nvPr/>
        </p:nvSpPr>
        <p:spPr>
          <a:xfrm>
            <a:off x="5638800" y="53054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0000"/>
          </a:bodyPr>
          <a:lstStyle/>
          <a:p>
            <a:pPr algn="l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S14</a:t>
            </a:r>
          </a:p>
        </p:txBody>
      </p:sp>
      <p:sp>
        <p:nvSpPr>
          <p:cNvPr id="73" name="milestone-name-2">
            <a:extLst>
              <a:ext uri="{FF2B5EF4-FFF2-40B4-BE49-F238E27FC236}">
                <a16:creationId xmlns:a16="http://schemas.microsoft.com/office/drawing/2014/main" id="{2CC8EE6D-DECF-4491-A5F9-FDC9713EA16E}"/>
              </a:ext>
            </a:extLst>
          </p:cNvPr>
          <p:cNvSpPr>
            <a:spLocks noGrp="1"/>
          </p:cNvSpPr>
          <p:nvPr/>
        </p:nvSpPr>
        <p:spPr>
          <a:xfrm>
            <a:off x="5638800" y="5505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Versión funcional</a:t>
            </a:r>
          </a:p>
        </p:txBody>
      </p:sp>
      <p:sp>
        <p:nvSpPr>
          <p:cNvPr id="74" name="milestone-dot-3">
            <a:extLst>
              <a:ext uri="{FF2B5EF4-FFF2-40B4-BE49-F238E27FC236}">
                <a16:creationId xmlns:a16="http://schemas.microsoft.com/office/drawing/2014/main" id="{EBB3B676-4A4D-4652-A3C5-DC6909A39168}"/>
              </a:ext>
            </a:extLst>
          </p:cNvPr>
          <p:cNvSpPr>
            <a:spLocks noGrp="1"/>
          </p:cNvSpPr>
          <p:nvPr/>
        </p:nvSpPr>
        <p:spPr>
          <a:xfrm>
            <a:off x="7486650" y="5400675"/>
            <a:ext cx="114300" cy="1143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milestone-week-3">
            <a:extLst>
              <a:ext uri="{FF2B5EF4-FFF2-40B4-BE49-F238E27FC236}">
                <a16:creationId xmlns:a16="http://schemas.microsoft.com/office/drawing/2014/main" id="{49B2BD52-ED8A-497C-A6CE-837FBFC37834}"/>
              </a:ext>
            </a:extLst>
          </p:cNvPr>
          <p:cNvSpPr>
            <a:spLocks noGrp="1"/>
          </p:cNvSpPr>
          <p:nvPr/>
        </p:nvSpPr>
        <p:spPr>
          <a:xfrm>
            <a:off x="7677150" y="53054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0000"/>
          </a:bodyPr>
          <a:lstStyle/>
          <a:p>
            <a:pPr algn="l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S15</a:t>
            </a:r>
          </a:p>
        </p:txBody>
      </p:sp>
      <p:sp>
        <p:nvSpPr>
          <p:cNvPr id="76" name="milestone-name-3">
            <a:extLst>
              <a:ext uri="{FF2B5EF4-FFF2-40B4-BE49-F238E27FC236}">
                <a16:creationId xmlns:a16="http://schemas.microsoft.com/office/drawing/2014/main" id="{01E2E6C1-D76F-4E08-9F3B-C06961FF798C}"/>
              </a:ext>
            </a:extLst>
          </p:cNvPr>
          <p:cNvSpPr>
            <a:spLocks noGrp="1"/>
          </p:cNvSpPr>
          <p:nvPr/>
        </p:nvSpPr>
        <p:spPr>
          <a:xfrm>
            <a:off x="7677150" y="5505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Fase 2</a:t>
            </a:r>
          </a:p>
        </p:txBody>
      </p:sp>
      <p:sp>
        <p:nvSpPr>
          <p:cNvPr id="77" name="milestone-dot-4">
            <a:extLst>
              <a:ext uri="{FF2B5EF4-FFF2-40B4-BE49-F238E27FC236}">
                <a16:creationId xmlns:a16="http://schemas.microsoft.com/office/drawing/2014/main" id="{D9F51198-0B4A-417A-B161-EB8607FE7F02}"/>
              </a:ext>
            </a:extLst>
          </p:cNvPr>
          <p:cNvSpPr>
            <a:spLocks noGrp="1"/>
          </p:cNvSpPr>
          <p:nvPr/>
        </p:nvSpPr>
        <p:spPr>
          <a:xfrm>
            <a:off x="9525000" y="5400675"/>
            <a:ext cx="114300" cy="1143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milestone-week-4">
            <a:extLst>
              <a:ext uri="{FF2B5EF4-FFF2-40B4-BE49-F238E27FC236}">
                <a16:creationId xmlns:a16="http://schemas.microsoft.com/office/drawing/2014/main" id="{B2DEAEB2-8173-427A-8048-EB405B903E36}"/>
              </a:ext>
            </a:extLst>
          </p:cNvPr>
          <p:cNvSpPr>
            <a:spLocks noGrp="1"/>
          </p:cNvSpPr>
          <p:nvPr/>
        </p:nvSpPr>
        <p:spPr>
          <a:xfrm>
            <a:off x="9715500" y="53054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0000"/>
          </a:bodyPr>
          <a:lstStyle/>
          <a:p>
            <a:pPr algn="l">
              <a:buNone/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S17/18</a:t>
            </a:r>
          </a:p>
        </p:txBody>
      </p:sp>
      <p:sp>
        <p:nvSpPr>
          <p:cNvPr id="79" name="milestone-name-4">
            <a:extLst>
              <a:ext uri="{FF2B5EF4-FFF2-40B4-BE49-F238E27FC236}">
                <a16:creationId xmlns:a16="http://schemas.microsoft.com/office/drawing/2014/main" id="{87DDE4DD-FCEC-474D-91D8-FF67B94884D1}"/>
              </a:ext>
            </a:extLst>
          </p:cNvPr>
          <p:cNvSpPr>
            <a:spLocks noGrp="1"/>
          </p:cNvSpPr>
          <p:nvPr/>
        </p:nvSpPr>
        <p:spPr>
          <a:xfrm>
            <a:off x="9715500" y="55054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08"/>
          </a:bodyPr>
          <a:lstStyle/>
          <a:p>
            <a:pPr algn="l">
              <a:buNone/>
              <a:defRPr sz="9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Comisión</a:t>
            </a:r>
          </a:p>
        </p:txBody>
      </p:sp>
    </p:spTree>
    <p:extLst>
      <p:ext uri="{BB962C8B-B14F-4D97-AF65-F5344CB8AC3E}">
        <p14:creationId xmlns:p14="http://schemas.microsoft.com/office/powerpoint/2010/main" val="69543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6-title">
            <a:extLst>
              <a:ext uri="{FF2B5EF4-FFF2-40B4-BE49-F238E27FC236}">
                <a16:creationId xmlns:a16="http://schemas.microsoft.com/office/drawing/2014/main" id="{AE6E2A94-FD43-4EE1-8338-4106FA7F7AA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Mapa tecnológico y arquitectura propuesta</a:t>
            </a:r>
          </a:p>
        </p:txBody>
      </p:sp>
      <p:cxnSp>
        <p:nvCxnSpPr>
          <p:cNvPr id="70" name="slide-6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6-footer-right">
            <a:extLst>
              <a:ext uri="{FF2B5EF4-FFF2-40B4-BE49-F238E27FC236}">
                <a16:creationId xmlns:a16="http://schemas.microsoft.com/office/drawing/2014/main" id="{849E15FE-1B10-46E3-9C7E-AA752BB5E17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73" name="method-line"/>
          <p:cNvCxnSpPr/>
          <p:nvPr/>
        </p:nvCxnSpPr>
        <p:spPr>
          <a:xfrm>
            <a:off x="1409700" y="2381250"/>
            <a:ext cx="933450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6" name="method-node-1">
            <a:extLst>
              <a:ext uri="{FF2B5EF4-FFF2-40B4-BE49-F238E27FC236}">
                <a16:creationId xmlns:a16="http://schemas.microsoft.com/office/drawing/2014/main" id="{5C8BB6BC-515A-4EAD-A72C-B7EB4DFA5C49}"/>
              </a:ext>
            </a:extLst>
          </p:cNvPr>
          <p:cNvSpPr>
            <a:spLocks noGrp="1"/>
          </p:cNvSpPr>
          <p:nvPr/>
        </p:nvSpPr>
        <p:spPr>
          <a:xfrm>
            <a:off x="1362075" y="2219325"/>
            <a:ext cx="323850" cy="323850"/>
          </a:xfrm>
          <a:prstGeom prst="ellipse">
            <a:avLst/>
          </a:prstGeom>
          <a:solidFill>
            <a:srgbClr val="155BC4"/>
          </a:solidFill>
          <a:ln w="9525">
            <a:solidFill>
              <a:srgbClr val="155B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method-title-1">
            <a:extLst>
              <a:ext uri="{FF2B5EF4-FFF2-40B4-BE49-F238E27FC236}">
                <a16:creationId xmlns:a16="http://schemas.microsoft.com/office/drawing/2014/main" id="{6DDE1571-20D6-44FE-920C-90609A0D300F}"/>
              </a:ext>
            </a:extLst>
          </p:cNvPr>
          <p:cNvSpPr>
            <a:spLocks noGrp="1"/>
          </p:cNvSpPr>
          <p:nvPr/>
        </p:nvSpPr>
        <p:spPr>
          <a:xfrm>
            <a:off x="38100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Interfaz</a:t>
            </a:r>
          </a:p>
        </p:txBody>
      </p:sp>
      <p:sp>
        <p:nvSpPr>
          <p:cNvPr id="8" name="method-detail-1">
            <a:extLst>
              <a:ext uri="{FF2B5EF4-FFF2-40B4-BE49-F238E27FC236}">
                <a16:creationId xmlns:a16="http://schemas.microsoft.com/office/drawing/2014/main" id="{B2C2448A-D068-4BF4-A776-DAC33DED7A53}"/>
              </a:ext>
            </a:extLst>
          </p:cNvPr>
          <p:cNvSpPr>
            <a:spLocks noGrp="1"/>
          </p:cNvSpPr>
          <p:nvPr/>
        </p:nvSpPr>
        <p:spPr>
          <a:xfrm>
            <a:off x="38100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React Native + Expo</a:t>
            </a:r>
          </a:p>
        </p:txBody>
      </p:sp>
      <p:sp>
        <p:nvSpPr>
          <p:cNvPr id="9" name="method-node-2">
            <a:extLst>
              <a:ext uri="{FF2B5EF4-FFF2-40B4-BE49-F238E27FC236}">
                <a16:creationId xmlns:a16="http://schemas.microsoft.com/office/drawing/2014/main" id="{E895E2AD-1F8B-4AED-A75A-DD59F71D846E}"/>
              </a:ext>
            </a:extLst>
          </p:cNvPr>
          <p:cNvSpPr>
            <a:spLocks noGrp="1"/>
          </p:cNvSpPr>
          <p:nvPr/>
        </p:nvSpPr>
        <p:spPr>
          <a:xfrm>
            <a:off x="4314825" y="2219325"/>
            <a:ext cx="323850" cy="3238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method-title-2">
            <a:extLst>
              <a:ext uri="{FF2B5EF4-FFF2-40B4-BE49-F238E27FC236}">
                <a16:creationId xmlns:a16="http://schemas.microsoft.com/office/drawing/2014/main" id="{B750B01E-72D7-4187-BAAB-E8A3B347F3E1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Lógica</a:t>
            </a:r>
          </a:p>
        </p:txBody>
      </p:sp>
      <p:sp>
        <p:nvSpPr>
          <p:cNvPr id="11" name="method-detail-2">
            <a:extLst>
              <a:ext uri="{FF2B5EF4-FFF2-40B4-BE49-F238E27FC236}">
                <a16:creationId xmlns:a16="http://schemas.microsoft.com/office/drawing/2014/main" id="{9F04437F-4862-4E88-B854-079A7600F7E7}"/>
              </a:ext>
            </a:extLst>
          </p:cNvPr>
          <p:cNvSpPr>
            <a:spLocks noGrp="1"/>
          </p:cNvSpPr>
          <p:nvPr/>
        </p:nvSpPr>
        <p:spPr>
          <a:xfrm>
            <a:off x="333375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TypeScript y módulos</a:t>
            </a:r>
          </a:p>
        </p:txBody>
      </p:sp>
      <p:sp>
        <p:nvSpPr>
          <p:cNvPr id="12" name="method-node-3">
            <a:extLst>
              <a:ext uri="{FF2B5EF4-FFF2-40B4-BE49-F238E27FC236}">
                <a16:creationId xmlns:a16="http://schemas.microsoft.com/office/drawing/2014/main" id="{B8E724DC-1CE3-4A33-A635-CF483F0F2ED1}"/>
              </a:ext>
            </a:extLst>
          </p:cNvPr>
          <p:cNvSpPr>
            <a:spLocks noGrp="1"/>
          </p:cNvSpPr>
          <p:nvPr/>
        </p:nvSpPr>
        <p:spPr>
          <a:xfrm>
            <a:off x="7267575" y="2219325"/>
            <a:ext cx="323850" cy="3238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method-title-3">
            <a:extLst>
              <a:ext uri="{FF2B5EF4-FFF2-40B4-BE49-F238E27FC236}">
                <a16:creationId xmlns:a16="http://schemas.microsoft.com/office/drawing/2014/main" id="{0ECA0F47-888F-487C-AD09-35757AAE8C5F}"/>
              </a:ext>
            </a:extLst>
          </p:cNvPr>
          <p:cNvSpPr>
            <a:spLocks noGrp="1"/>
          </p:cNvSpPr>
          <p:nvPr/>
        </p:nvSpPr>
        <p:spPr>
          <a:xfrm>
            <a:off x="628650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Generador</a:t>
            </a:r>
          </a:p>
        </p:txBody>
      </p:sp>
      <p:sp>
        <p:nvSpPr>
          <p:cNvPr id="14" name="method-detail-3">
            <a:extLst>
              <a:ext uri="{FF2B5EF4-FFF2-40B4-BE49-F238E27FC236}">
                <a16:creationId xmlns:a16="http://schemas.microsoft.com/office/drawing/2014/main" id="{8CDAC495-D567-45DF-9FE2-B4CB7997061E}"/>
              </a:ext>
            </a:extLst>
          </p:cNvPr>
          <p:cNvSpPr>
            <a:spLocks noGrp="1"/>
          </p:cNvSpPr>
          <p:nvPr/>
        </p:nvSpPr>
        <p:spPr>
          <a:xfrm>
            <a:off x="628650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Reglas, IA o híbrido</a:t>
            </a:r>
          </a:p>
        </p:txBody>
      </p:sp>
      <p:sp>
        <p:nvSpPr>
          <p:cNvPr id="15" name="method-node-4">
            <a:extLst>
              <a:ext uri="{FF2B5EF4-FFF2-40B4-BE49-F238E27FC236}">
                <a16:creationId xmlns:a16="http://schemas.microsoft.com/office/drawing/2014/main" id="{7CC6FAB3-F0D9-4796-9D71-DDF03F03AD69}"/>
              </a:ext>
            </a:extLst>
          </p:cNvPr>
          <p:cNvSpPr>
            <a:spLocks noGrp="1"/>
          </p:cNvSpPr>
          <p:nvPr/>
        </p:nvSpPr>
        <p:spPr>
          <a:xfrm>
            <a:off x="10220325" y="2219325"/>
            <a:ext cx="323850" cy="3238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method-title-4">
            <a:extLst>
              <a:ext uri="{FF2B5EF4-FFF2-40B4-BE49-F238E27FC236}">
                <a16:creationId xmlns:a16="http://schemas.microsoft.com/office/drawing/2014/main" id="{4EFB857D-5D23-4F99-ACC4-C7FF8E10B31B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7" name="method-detail-4">
            <a:extLst>
              <a:ext uri="{FF2B5EF4-FFF2-40B4-BE49-F238E27FC236}">
                <a16:creationId xmlns:a16="http://schemas.microsoft.com/office/drawing/2014/main" id="{FFDA20E6-7E00-4DC9-A7AF-10AAA3059B34}"/>
              </a:ext>
            </a:extLst>
          </p:cNvPr>
          <p:cNvSpPr>
            <a:spLocks noGrp="1"/>
          </p:cNvSpPr>
          <p:nvPr/>
        </p:nvSpPr>
        <p:spPr>
          <a:xfrm>
            <a:off x="9239250" y="27432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SQLite local</a:t>
            </a:r>
          </a:p>
        </p:txBody>
      </p:sp>
      <p:sp>
        <p:nvSpPr>
          <p:cNvPr id="18" name="stack-band">
            <a:extLst>
              <a:ext uri="{FF2B5EF4-FFF2-40B4-BE49-F238E27FC236}">
                <a16:creationId xmlns:a16="http://schemas.microsoft.com/office/drawing/2014/main" id="{853DE97C-2729-4CF0-BFF2-14FFB1D481AF}"/>
              </a:ext>
            </a:extLst>
          </p:cNvPr>
          <p:cNvSpPr>
            <a:spLocks noGrp="1"/>
          </p:cNvSpPr>
          <p:nvPr/>
        </p:nvSpPr>
        <p:spPr>
          <a:xfrm>
            <a:off x="533400" y="3924300"/>
            <a:ext cx="11125200" cy="16192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tack-label">
            <a:extLst>
              <a:ext uri="{FF2B5EF4-FFF2-40B4-BE49-F238E27FC236}">
                <a16:creationId xmlns:a16="http://schemas.microsoft.com/office/drawing/2014/main" id="{A86EE3A7-9D3C-4C71-A835-2E8FC707BFA3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PILA TECNOLÓGICA PROVISIONAL</a:t>
            </a:r>
          </a:p>
        </p:txBody>
      </p:sp>
      <p:sp>
        <p:nvSpPr>
          <p:cNvPr id="20" name="stack-main">
            <a:extLst>
              <a:ext uri="{FF2B5EF4-FFF2-40B4-BE49-F238E27FC236}">
                <a16:creationId xmlns:a16="http://schemas.microsoft.com/office/drawing/2014/main" id="{D185686E-7C5D-4EFE-8827-7E27118CC8B0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React Native · Expo · TypeScript · SQLite</a:t>
            </a:r>
          </a:p>
        </p:txBody>
      </p:sp>
      <p:sp>
        <p:nvSpPr>
          <p:cNvPr id="21" name="stack-rationale">
            <a:extLst>
              <a:ext uri="{FF2B5EF4-FFF2-40B4-BE49-F238E27FC236}">
                <a16:creationId xmlns:a16="http://schemas.microsoft.com/office/drawing/2014/main" id="{9C059D12-5AFB-427A-8DB2-26A0738E278D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704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392"/>
          </a:bodyPr>
          <a:lstStyle/>
          <a:p>
            <a:pPr algn="l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Android · persistencia local · bajo costo · Git y GitHub privado para versiones.</a:t>
            </a:r>
          </a:p>
        </p:txBody>
      </p:sp>
      <p:cxnSp>
        <p:nvCxnSpPr>
          <p:cNvPr id="90" name="stack-divider"/>
          <p:cNvCxnSpPr/>
          <p:nvPr/>
        </p:nvCxnSpPr>
        <p:spPr>
          <a:xfrm>
            <a:off x="8172450" y="4171950"/>
            <a:ext cx="0" cy="112395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3" name="generator-label">
            <a:extLst>
              <a:ext uri="{FF2B5EF4-FFF2-40B4-BE49-F238E27FC236}">
                <a16:creationId xmlns:a16="http://schemas.microsoft.com/office/drawing/2014/main" id="{B421AC1D-32ED-40F4-A3EF-2A56B02E406F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buNone/>
              <a:defRPr sz="10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DECISIONES ABIERTAS</a:t>
            </a:r>
          </a:p>
        </p:txBody>
      </p:sp>
      <p:sp>
        <p:nvSpPr>
          <p:cNvPr id="24" name="generator-text">
            <a:extLst>
              <a:ext uri="{FF2B5EF4-FFF2-40B4-BE49-F238E27FC236}">
                <a16:creationId xmlns:a16="http://schemas.microsoft.com/office/drawing/2014/main" id="{188A69CA-A5F1-4736-A85E-C3257C26F34A}"/>
              </a:ext>
            </a:extLst>
          </p:cNvPr>
          <p:cNvSpPr>
            <a:spLocks noGrp="1"/>
          </p:cNvSpPr>
          <p:nvPr/>
        </p:nvSpPr>
        <p:spPr>
          <a:xfrm>
            <a:off x="8477250" y="4591050"/>
            <a:ext cx="26860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Generador desacoplado; backend, nube y autenticación aún no confirmados.</a:t>
            </a:r>
          </a:p>
        </p:txBody>
      </p:sp>
    </p:spTree>
    <p:extLst>
      <p:ext uri="{BB962C8B-B14F-4D97-AF65-F5344CB8AC3E}">
        <p14:creationId xmlns:p14="http://schemas.microsoft.com/office/powerpoint/2010/main" val="154250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5-title">
            <a:extLst>
              <a:ext uri="{FF2B5EF4-FFF2-40B4-BE49-F238E27FC236}">
                <a16:creationId xmlns:a16="http://schemas.microsoft.com/office/drawing/2014/main" id="{5F4785F0-6784-43D0-8F35-3FFFCCB8C0FB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Kinetia integra competencias del perfil de egreso</a:t>
            </a:r>
          </a:p>
        </p:txBody>
      </p:sp>
      <p:cxnSp>
        <p:nvCxnSpPr>
          <p:cNvPr id="60" name="slide-5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5-footer-right">
            <a:extLst>
              <a:ext uri="{FF2B5EF4-FFF2-40B4-BE49-F238E27FC236}">
                <a16:creationId xmlns:a16="http://schemas.microsoft.com/office/drawing/2014/main" id="{2710F90B-7CCE-4646-ABFA-3DC554ABBA42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competency-name-0">
            <a:extLst>
              <a:ext uri="{FF2B5EF4-FFF2-40B4-BE49-F238E27FC236}">
                <a16:creationId xmlns:a16="http://schemas.microsoft.com/office/drawing/2014/main" id="{273F7B86-93D4-43AB-AAA1-2323CD8C2EE2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Gestión de proyectos</a:t>
            </a:r>
          </a:p>
        </p:txBody>
      </p:sp>
      <p:sp>
        <p:nvSpPr>
          <p:cNvPr id="6" name="competency-use-0">
            <a:extLst>
              <a:ext uri="{FF2B5EF4-FFF2-40B4-BE49-F238E27FC236}">
                <a16:creationId xmlns:a16="http://schemas.microsoft.com/office/drawing/2014/main" id="{CB1D08C2-8074-4BF6-9DF9-D508EF966375}"/>
              </a:ext>
            </a:extLst>
          </p:cNvPr>
          <p:cNvSpPr>
            <a:spLocks noGrp="1"/>
          </p:cNvSpPr>
          <p:nvPr/>
        </p:nvSpPr>
        <p:spPr>
          <a:xfrm>
            <a:off x="3086100" y="15049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Definir alcance, cronograma, riesgos y decisiones.</a:t>
            </a:r>
          </a:p>
        </p:txBody>
      </p:sp>
      <p:cxnSp>
        <p:nvCxnSpPr>
          <p:cNvPr id="65" name="competency-rule-1"/>
          <p:cNvCxnSpPr/>
          <p:nvPr/>
        </p:nvCxnSpPr>
        <p:spPr>
          <a:xfrm>
            <a:off x="533400" y="23622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competency-name-1">
            <a:extLst>
              <a:ext uri="{FF2B5EF4-FFF2-40B4-BE49-F238E27FC236}">
                <a16:creationId xmlns:a16="http://schemas.microsoft.com/office/drawing/2014/main" id="{ECCBED98-2172-46F5-9CF6-A7A81460D8C3}"/>
              </a:ext>
            </a:extLst>
          </p:cNvPr>
          <p:cNvSpPr>
            <a:spLocks noGrp="1"/>
          </p:cNvSpPr>
          <p:nvPr/>
        </p:nvSpPr>
        <p:spPr>
          <a:xfrm>
            <a:off x="533400" y="2533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959"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Modelamiento de datos</a:t>
            </a:r>
          </a:p>
        </p:txBody>
      </p:sp>
      <p:sp>
        <p:nvSpPr>
          <p:cNvPr id="9" name="competency-use-1">
            <a:extLst>
              <a:ext uri="{FF2B5EF4-FFF2-40B4-BE49-F238E27FC236}">
                <a16:creationId xmlns:a16="http://schemas.microsoft.com/office/drawing/2014/main" id="{C71111EA-5980-436E-87F5-0290F797222E}"/>
              </a:ext>
            </a:extLst>
          </p:cNvPr>
          <p:cNvSpPr>
            <a:spLocks noGrp="1"/>
          </p:cNvSpPr>
          <p:nvPr/>
        </p:nvSpPr>
        <p:spPr>
          <a:xfrm>
            <a:off x="3086100" y="25336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Estructurar perfiles, ejercicios, rutinas, sesiones e historial.</a:t>
            </a:r>
          </a:p>
        </p:txBody>
      </p:sp>
      <p:cxnSp>
        <p:nvCxnSpPr>
          <p:cNvPr id="68" name="competency-rule-2"/>
          <p:cNvCxnSpPr/>
          <p:nvPr/>
        </p:nvCxnSpPr>
        <p:spPr>
          <a:xfrm>
            <a:off x="533400" y="33909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competency-name-2">
            <a:extLst>
              <a:ext uri="{FF2B5EF4-FFF2-40B4-BE49-F238E27FC236}">
                <a16:creationId xmlns:a16="http://schemas.microsoft.com/office/drawing/2014/main" id="{000D3E8D-859C-4015-890B-48D5CDB670D2}"/>
              </a:ext>
            </a:extLst>
          </p:cNvPr>
          <p:cNvSpPr>
            <a:spLocks noGrp="1"/>
          </p:cNvSpPr>
          <p:nvPr/>
        </p:nvSpPr>
        <p:spPr>
          <a:xfrm>
            <a:off x="533400" y="35623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Desarrollo de software</a:t>
            </a:r>
          </a:p>
        </p:txBody>
      </p:sp>
      <p:sp>
        <p:nvSpPr>
          <p:cNvPr id="12" name="competency-use-2">
            <a:extLst>
              <a:ext uri="{FF2B5EF4-FFF2-40B4-BE49-F238E27FC236}">
                <a16:creationId xmlns:a16="http://schemas.microsoft.com/office/drawing/2014/main" id="{E5687D25-5F0A-4619-85BB-5B7610E5BFD7}"/>
              </a:ext>
            </a:extLst>
          </p:cNvPr>
          <p:cNvSpPr>
            <a:spLocks noGrp="1"/>
          </p:cNvSpPr>
          <p:nvPr/>
        </p:nvSpPr>
        <p:spPr>
          <a:xfrm>
            <a:off x="3086100" y="35623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Construir la aplicación móvil e integrar su lógica.</a:t>
            </a:r>
          </a:p>
        </p:txBody>
      </p:sp>
      <p:cxnSp>
        <p:nvCxnSpPr>
          <p:cNvPr id="71" name="competency-rule-3"/>
          <p:cNvCxnSpPr/>
          <p:nvPr/>
        </p:nvCxnSpPr>
        <p:spPr>
          <a:xfrm>
            <a:off x="533400" y="44196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4" name="competency-name-3">
            <a:extLst>
              <a:ext uri="{FF2B5EF4-FFF2-40B4-BE49-F238E27FC236}">
                <a16:creationId xmlns:a16="http://schemas.microsoft.com/office/drawing/2014/main" id="{330E1F1C-6EED-4E96-A5C7-7D67197F2146}"/>
              </a:ext>
            </a:extLst>
          </p:cNvPr>
          <p:cNvSpPr>
            <a:spLocks noGrp="1"/>
          </p:cNvSpPr>
          <p:nvPr/>
        </p:nvSpPr>
        <p:spPr>
          <a:xfrm>
            <a:off x="533400" y="45910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Calidad y pruebas</a:t>
            </a:r>
          </a:p>
        </p:txBody>
      </p:sp>
      <p:sp>
        <p:nvSpPr>
          <p:cNvPr id="15" name="competency-use-3">
            <a:extLst>
              <a:ext uri="{FF2B5EF4-FFF2-40B4-BE49-F238E27FC236}">
                <a16:creationId xmlns:a16="http://schemas.microsoft.com/office/drawing/2014/main" id="{17DF15E6-7C60-428B-A4EF-0F1DBC989904}"/>
              </a:ext>
            </a:extLst>
          </p:cNvPr>
          <p:cNvSpPr>
            <a:spLocks noGrp="1"/>
          </p:cNvSpPr>
          <p:nvPr/>
        </p:nvSpPr>
        <p:spPr>
          <a:xfrm>
            <a:off x="3086100" y="45910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Diseñar casos de prueba, corregir errores y mejorar el producto.</a:t>
            </a:r>
          </a:p>
        </p:txBody>
      </p:sp>
      <p:sp>
        <p:nvSpPr>
          <p:cNvPr id="16" name="interests-panel">
            <a:extLst>
              <a:ext uri="{FF2B5EF4-FFF2-40B4-BE49-F238E27FC236}">
                <a16:creationId xmlns:a16="http://schemas.microsoft.com/office/drawing/2014/main" id="{E4293818-6E7A-48EE-940A-96388F420431}"/>
              </a:ext>
            </a:extLst>
          </p:cNvPr>
          <p:cNvSpPr>
            <a:spLocks noGrp="1"/>
          </p:cNvSpPr>
          <p:nvPr/>
        </p:nvSpPr>
        <p:spPr>
          <a:xfrm>
            <a:off x="7791450" y="1504950"/>
            <a:ext cx="3867150" cy="4000500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interests-title">
            <a:extLst>
              <a:ext uri="{FF2B5EF4-FFF2-40B4-BE49-F238E27FC236}">
                <a16:creationId xmlns:a16="http://schemas.microsoft.com/office/drawing/2014/main" id="{08B71BF3-9798-4B62-BBE1-4B639443098A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Intereses profesionales</a:t>
            </a:r>
          </a:p>
        </p:txBody>
      </p:sp>
      <p:sp>
        <p:nvSpPr>
          <p:cNvPr id="18" name="interests-list">
            <a:extLst>
              <a:ext uri="{FF2B5EF4-FFF2-40B4-BE49-F238E27FC236}">
                <a16:creationId xmlns:a16="http://schemas.microsoft.com/office/drawing/2014/main" id="{4977D081-9334-4305-9816-5F32396C6B09}"/>
              </a:ext>
            </a:extLst>
          </p:cNvPr>
          <p:cNvSpPr>
            <a:spLocks noGrp="1"/>
          </p:cNvSpPr>
          <p:nvPr/>
        </p:nvSpPr>
        <p:spPr>
          <a:xfrm>
            <a:off x="8096250" y="2457450"/>
            <a:ext cx="32575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Análisis de datos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Modelos predictivos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Diseño de interfaces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Gestión de proyectos tecnológicos</a:t>
            </a:r>
          </a:p>
        </p:txBody>
      </p:sp>
      <p:cxnSp>
        <p:nvCxnSpPr>
          <p:cNvPr id="77" name="interests-rule"/>
          <p:cNvCxnSpPr/>
          <p:nvPr/>
        </p:nvCxnSpPr>
        <p:spPr>
          <a:xfrm>
            <a:off x="8096250" y="4057650"/>
            <a:ext cx="325755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0" name="interests-learning">
            <a:extLst>
              <a:ext uri="{FF2B5EF4-FFF2-40B4-BE49-F238E27FC236}">
                <a16:creationId xmlns:a16="http://schemas.microsoft.com/office/drawing/2014/main" id="{144D458D-07EB-4C98-A6B4-2A02CE3FDE19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32575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El proyecto aprovecha fortalezas en análisis, planificación y diseño, mientras refuerza programación, bases de datos, integración y pruebas.</a:t>
            </a:r>
          </a:p>
        </p:txBody>
      </p:sp>
    </p:spTree>
    <p:extLst>
      <p:ext uri="{BB962C8B-B14F-4D97-AF65-F5344CB8AC3E}">
        <p14:creationId xmlns:p14="http://schemas.microsoft.com/office/powerpoint/2010/main" val="171120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7-title">
            <a:extLst>
              <a:ext uri="{FF2B5EF4-FFF2-40B4-BE49-F238E27FC236}">
                <a16:creationId xmlns:a16="http://schemas.microsoft.com/office/drawing/2014/main" id="{AB4A626A-3F50-424C-ACEF-B6463DB04BD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Riesgos y mitigaciones mantienen factible el MVP</a:t>
            </a:r>
          </a:p>
        </p:txBody>
      </p:sp>
      <p:cxnSp>
        <p:nvCxnSpPr>
          <p:cNvPr id="75" name="slide-7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7-footer-right">
            <a:extLst>
              <a:ext uri="{FF2B5EF4-FFF2-40B4-BE49-F238E27FC236}">
                <a16:creationId xmlns:a16="http://schemas.microsoft.com/office/drawing/2014/main" id="{CB3D52EC-8805-4D49-B736-8DD1629969FF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78" name="feasibility-divider"/>
          <p:cNvCxnSpPr/>
          <p:nvPr/>
        </p:nvCxnSpPr>
        <p:spPr>
          <a:xfrm>
            <a:off x="5981700" y="1466850"/>
            <a:ext cx="0" cy="432435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6" name="conditions-title">
            <a:extLst>
              <a:ext uri="{FF2B5EF4-FFF2-40B4-BE49-F238E27FC236}">
                <a16:creationId xmlns:a16="http://schemas.microsoft.com/office/drawing/2014/main" id="{E7B9C7A2-4093-4C8D-952D-460309AE76D3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Condiciones favorables</a:t>
            </a:r>
          </a:p>
        </p:txBody>
      </p:sp>
      <p:sp>
        <p:nvSpPr>
          <p:cNvPr id="7" name="conditions-18">
            <a:extLst>
              <a:ext uri="{FF2B5EF4-FFF2-40B4-BE49-F238E27FC236}">
                <a16:creationId xmlns:a16="http://schemas.microsoft.com/office/drawing/2014/main" id="{C91214B0-A6D5-464E-A29A-B218C8196C72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1066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123"/>
          </a:bodyPr>
          <a:lstStyle/>
          <a:p>
            <a:pPr algn="l">
              <a:buNone/>
              <a:defRPr sz="40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conditions-18-copy">
            <a:extLst>
              <a:ext uri="{FF2B5EF4-FFF2-40B4-BE49-F238E27FC236}">
                <a16:creationId xmlns:a16="http://schemas.microsoft.com/office/drawing/2014/main" id="{9B4A06D1-A38E-4785-B7D0-5B0179E122CD}"/>
              </a:ext>
            </a:extLst>
          </p:cNvPr>
          <p:cNvSpPr>
            <a:spLocks noGrp="1"/>
          </p:cNvSpPr>
          <p:nvPr/>
        </p:nvSpPr>
        <p:spPr>
          <a:xfrm>
            <a:off x="1600200" y="22669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semanas de desarrollo</a:t>
            </a:r>
          </a:p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con metas semanales</a:t>
            </a:r>
          </a:p>
        </p:txBody>
      </p:sp>
      <p:sp>
        <p:nvSpPr>
          <p:cNvPr id="9" name="conditions-s14">
            <a:extLst>
              <a:ext uri="{FF2B5EF4-FFF2-40B4-BE49-F238E27FC236}">
                <a16:creationId xmlns:a16="http://schemas.microsoft.com/office/drawing/2014/main" id="{A88046CB-F925-42B4-92F8-682095361507}"/>
              </a:ext>
            </a:extLst>
          </p:cNvPr>
          <p:cNvSpPr>
            <a:spLocks noGrp="1"/>
          </p:cNvSpPr>
          <p:nvPr/>
        </p:nvSpPr>
        <p:spPr>
          <a:xfrm>
            <a:off x="533400" y="3162300"/>
            <a:ext cx="1066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S14</a:t>
            </a:r>
          </a:p>
        </p:txBody>
      </p:sp>
      <p:sp>
        <p:nvSpPr>
          <p:cNvPr id="10" name="conditions-s14-copy">
            <a:extLst>
              <a:ext uri="{FF2B5EF4-FFF2-40B4-BE49-F238E27FC236}">
                <a16:creationId xmlns:a16="http://schemas.microsoft.com/office/drawing/2014/main" id="{0A3161BA-38D6-4876-A470-4163049B3BE0}"/>
              </a:ext>
            </a:extLst>
          </p:cNvPr>
          <p:cNvSpPr>
            <a:spLocks noGrp="1"/>
          </p:cNvSpPr>
          <p:nvPr/>
        </p:nvSpPr>
        <p:spPr>
          <a:xfrm>
            <a:off x="1600200" y="32194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versión funcional</a:t>
            </a:r>
          </a:p>
          <a:p>
            <a:pPr algn="l">
              <a:buNone/>
              <a:defRPr sz="13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y estabilización</a:t>
            </a:r>
          </a:p>
        </p:txBody>
      </p:sp>
      <p:cxnSp>
        <p:nvCxnSpPr>
          <p:cNvPr id="84" name="conditions-rule"/>
          <p:cNvCxnSpPr/>
          <p:nvPr/>
        </p:nvCxnSpPr>
        <p:spPr>
          <a:xfrm>
            <a:off x="533400" y="4095750"/>
            <a:ext cx="47625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2" name="resources-label">
            <a:extLst>
              <a:ext uri="{FF2B5EF4-FFF2-40B4-BE49-F238E27FC236}">
                <a16:creationId xmlns:a16="http://schemas.microsoft.com/office/drawing/2014/main" id="{6D98C75F-4C69-4F84-A247-65F883FE7F27}"/>
              </a:ext>
            </a:extLst>
          </p:cNvPr>
          <p:cNvSpPr>
            <a:spLocks noGrp="1"/>
          </p:cNvSpPr>
          <p:nvPr/>
        </p:nvSpPr>
        <p:spPr>
          <a:xfrm>
            <a:off x="533400" y="43624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809"/>
          </a:bodyPr>
          <a:lstStyle/>
          <a:p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RECURSOS DISPONIBLES</a:t>
            </a:r>
          </a:p>
        </p:txBody>
      </p:sp>
      <p:sp>
        <p:nvSpPr>
          <p:cNvPr id="13" name="resources-text">
            <a:extLst>
              <a:ext uri="{FF2B5EF4-FFF2-40B4-BE49-F238E27FC236}">
                <a16:creationId xmlns:a16="http://schemas.microsoft.com/office/drawing/2014/main" id="{E02CE584-839C-48FE-A72E-F7154BEFAE95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476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Computador, internet, emulador o dispositivo Android, herramientas de diseño, repositorio, entorno de desarrollo y conocimientos previos.</a:t>
            </a:r>
          </a:p>
        </p:txBody>
      </p:sp>
      <p:sp>
        <p:nvSpPr>
          <p:cNvPr id="14" name="risks-title">
            <a:extLst>
              <a:ext uri="{FF2B5EF4-FFF2-40B4-BE49-F238E27FC236}">
                <a16:creationId xmlns:a16="http://schemas.microsoft.com/office/drawing/2014/main" id="{311C6A6D-DDD3-4D2B-A16C-D9DC2532F3C6}"/>
              </a:ext>
            </a:extLst>
          </p:cNvPr>
          <p:cNvSpPr>
            <a:spLocks noGrp="1"/>
          </p:cNvSpPr>
          <p:nvPr/>
        </p:nvSpPr>
        <p:spPr>
          <a:xfrm>
            <a:off x="6419850" y="15049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667"/>
          </a:bodyPr>
          <a:lstStyle/>
          <a:p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Riesgos y mitigación</a:t>
            </a:r>
          </a:p>
        </p:txBody>
      </p:sp>
      <p:sp>
        <p:nvSpPr>
          <p:cNvPr id="15" name="risk-name-0">
            <a:extLst>
              <a:ext uri="{FF2B5EF4-FFF2-40B4-BE49-F238E27FC236}">
                <a16:creationId xmlns:a16="http://schemas.microsoft.com/office/drawing/2014/main" id="{9F49439B-B1D3-45EC-BF07-ABE80E89208D}"/>
              </a:ext>
            </a:extLst>
          </p:cNvPr>
          <p:cNvSpPr>
            <a:spLocks noGrp="1"/>
          </p:cNvSpPr>
          <p:nvPr/>
        </p:nvSpPr>
        <p:spPr>
          <a:xfrm>
            <a:off x="6419850" y="2114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Carga de trabajo individual</a:t>
            </a:r>
          </a:p>
        </p:txBody>
      </p:sp>
      <p:sp>
        <p:nvSpPr>
          <p:cNvPr id="16" name="risk-mitigation-0">
            <a:extLst>
              <a:ext uri="{FF2B5EF4-FFF2-40B4-BE49-F238E27FC236}">
                <a16:creationId xmlns:a16="http://schemas.microsoft.com/office/drawing/2014/main" id="{C08562BD-6D53-475C-9631-59EBF09F7833}"/>
              </a:ext>
            </a:extLst>
          </p:cNvPr>
          <p:cNvSpPr>
            <a:spLocks noGrp="1"/>
          </p:cNvSpPr>
          <p:nvPr/>
        </p:nvSpPr>
        <p:spPr>
          <a:xfrm>
            <a:off x="8763000" y="21145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Priorizar el MVP y fijar metas semanales.</a:t>
            </a:r>
          </a:p>
        </p:txBody>
      </p:sp>
      <p:cxnSp>
        <p:nvCxnSpPr>
          <p:cNvPr id="90" name="risk-rule-0"/>
          <p:cNvCxnSpPr/>
          <p:nvPr/>
        </p:nvCxnSpPr>
        <p:spPr>
          <a:xfrm>
            <a:off x="6419850" y="2724150"/>
            <a:ext cx="50673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8" name="risk-name-1">
            <a:extLst>
              <a:ext uri="{FF2B5EF4-FFF2-40B4-BE49-F238E27FC236}">
                <a16:creationId xmlns:a16="http://schemas.microsoft.com/office/drawing/2014/main" id="{932579BB-7FFC-4FED-A509-90E03DA78BAD}"/>
              </a:ext>
            </a:extLst>
          </p:cNvPr>
          <p:cNvSpPr>
            <a:spLocks noGrp="1"/>
          </p:cNvSpPr>
          <p:nvPr/>
        </p:nvSpPr>
        <p:spPr>
          <a:xfrm>
            <a:off x="6419850" y="29813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Complejidad del generador</a:t>
            </a:r>
          </a:p>
        </p:txBody>
      </p:sp>
      <p:sp>
        <p:nvSpPr>
          <p:cNvPr id="19" name="risk-mitigation-1">
            <a:extLst>
              <a:ext uri="{FF2B5EF4-FFF2-40B4-BE49-F238E27FC236}">
                <a16:creationId xmlns:a16="http://schemas.microsoft.com/office/drawing/2014/main" id="{917F6585-70F8-44B8-BDD5-5C667363E351}"/>
              </a:ext>
            </a:extLst>
          </p:cNvPr>
          <p:cNvSpPr>
            <a:spLocks noGrp="1"/>
          </p:cNvSpPr>
          <p:nvPr/>
        </p:nvSpPr>
        <p:spPr>
          <a:xfrm>
            <a:off x="8763000" y="298132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341"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Comparar alternativas, costos y casos de prueba antes de implementar.</a:t>
            </a:r>
          </a:p>
        </p:txBody>
      </p:sp>
      <p:cxnSp>
        <p:nvCxnSpPr>
          <p:cNvPr id="93" name="risk-rule-1"/>
          <p:cNvCxnSpPr/>
          <p:nvPr/>
        </p:nvCxnSpPr>
        <p:spPr>
          <a:xfrm>
            <a:off x="6419850" y="3590925"/>
            <a:ext cx="50673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1" name="risk-name-2">
            <a:extLst>
              <a:ext uri="{FF2B5EF4-FFF2-40B4-BE49-F238E27FC236}">
                <a16:creationId xmlns:a16="http://schemas.microsoft.com/office/drawing/2014/main" id="{4E6194C6-E306-45F5-90A9-4BE637CE956D}"/>
              </a:ext>
            </a:extLst>
          </p:cNvPr>
          <p:cNvSpPr>
            <a:spLocks noGrp="1"/>
          </p:cNvSpPr>
          <p:nvPr/>
        </p:nvSpPr>
        <p:spPr>
          <a:xfrm>
            <a:off x="6419850" y="3848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Cobertura del catálogo</a:t>
            </a:r>
          </a:p>
        </p:txBody>
      </p:sp>
      <p:sp>
        <p:nvSpPr>
          <p:cNvPr id="22" name="risk-mitigation-2">
            <a:extLst>
              <a:ext uri="{FF2B5EF4-FFF2-40B4-BE49-F238E27FC236}">
                <a16:creationId xmlns:a16="http://schemas.microsoft.com/office/drawing/2014/main" id="{B1078B24-855E-46A3-8DAC-EC4402176998}"/>
              </a:ext>
            </a:extLst>
          </p:cNvPr>
          <p:cNvSpPr>
            <a:spLocks noGrp="1"/>
          </p:cNvSpPr>
          <p:nvPr/>
        </p:nvSpPr>
        <p:spPr>
          <a:xfrm>
            <a:off x="8763000" y="384810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Usar la matriz de cobertura y mantener el máximo de 36 ejercicios.</a:t>
            </a:r>
          </a:p>
        </p:txBody>
      </p:sp>
      <p:cxnSp>
        <p:nvCxnSpPr>
          <p:cNvPr id="96" name="risk-rule-2"/>
          <p:cNvCxnSpPr/>
          <p:nvPr/>
        </p:nvCxnSpPr>
        <p:spPr>
          <a:xfrm>
            <a:off x="6419850" y="4457700"/>
            <a:ext cx="50673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4" name="risk-name-3">
            <a:extLst>
              <a:ext uri="{FF2B5EF4-FFF2-40B4-BE49-F238E27FC236}">
                <a16:creationId xmlns:a16="http://schemas.microsoft.com/office/drawing/2014/main" id="{9D340452-FC97-4BB1-B1A5-E2424844FACF}"/>
              </a:ext>
            </a:extLst>
          </p:cNvPr>
          <p:cNvSpPr>
            <a:spLocks noGrp="1"/>
          </p:cNvSpPr>
          <p:nvPr/>
        </p:nvSpPr>
        <p:spPr>
          <a:xfrm>
            <a:off x="6419850" y="47148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Errores tardíos</a:t>
            </a:r>
          </a:p>
        </p:txBody>
      </p:sp>
      <p:sp>
        <p:nvSpPr>
          <p:cNvPr id="25" name="risk-mitigation-3">
            <a:extLst>
              <a:ext uri="{FF2B5EF4-FFF2-40B4-BE49-F238E27FC236}">
                <a16:creationId xmlns:a16="http://schemas.microsoft.com/office/drawing/2014/main" id="{7707E0D5-681E-4B53-BE22-6DF6A15C3CB5}"/>
              </a:ext>
            </a:extLst>
          </p:cNvPr>
          <p:cNvSpPr>
            <a:spLocks noGrp="1"/>
          </p:cNvSpPr>
          <p:nvPr/>
        </p:nvSpPr>
        <p:spPr>
          <a:xfrm>
            <a:off x="8763000" y="471487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Integrar y probar desde etapas tempranas.</a:t>
            </a:r>
          </a:p>
        </p:txBody>
      </p:sp>
      <p:sp>
        <p:nvSpPr>
          <p:cNvPr id="26" name="scope-control-band">
            <a:extLst>
              <a:ext uri="{FF2B5EF4-FFF2-40B4-BE49-F238E27FC236}">
                <a16:creationId xmlns:a16="http://schemas.microsoft.com/office/drawing/2014/main" id="{C3B4FAD8-527C-4CFE-8EDB-C18619768AE0}"/>
              </a:ext>
            </a:extLst>
          </p:cNvPr>
          <p:cNvSpPr>
            <a:spLocks noGrp="1"/>
          </p:cNvSpPr>
          <p:nvPr/>
        </p:nvSpPr>
        <p:spPr>
          <a:xfrm>
            <a:off x="6419850" y="5600700"/>
            <a:ext cx="5067300" cy="32385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cope-control">
            <a:extLst>
              <a:ext uri="{FF2B5EF4-FFF2-40B4-BE49-F238E27FC236}">
                <a16:creationId xmlns:a16="http://schemas.microsoft.com/office/drawing/2014/main" id="{7C1FA35A-A819-4056-86ED-BC2243E9352A}"/>
              </a:ext>
            </a:extLst>
          </p:cNvPr>
          <p:cNvSpPr>
            <a:spLocks noGrp="1"/>
          </p:cNvSpPr>
          <p:nvPr/>
        </p:nvSpPr>
        <p:spPr>
          <a:xfrm>
            <a:off x="6572250" y="56769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0000"/>
          </a:bodyPr>
          <a:lstStyle/>
          <a:p>
            <a:pPr algn="l">
              <a:buNone/>
              <a:defRPr sz="1050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Funciones complementarias solo si el MVP está estable.</a:t>
            </a:r>
          </a:p>
        </p:txBody>
      </p:sp>
    </p:spTree>
    <p:extLst>
      <p:ext uri="{BB962C8B-B14F-4D97-AF65-F5344CB8AC3E}">
        <p14:creationId xmlns:p14="http://schemas.microsoft.com/office/powerpoint/2010/main" val="1747572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5-title">
            <a:extLst>
              <a:ext uri="{FF2B5EF4-FFF2-40B4-BE49-F238E27FC236}">
                <a16:creationId xmlns:a16="http://schemas.microsoft.com/office/drawing/2014/main" id="{5F4785F0-6784-43D0-8F35-3FFFCCB8C0FB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Seguridad y privacidad se diseñan desde el alcance</a:t>
            </a:r>
          </a:p>
        </p:txBody>
      </p:sp>
      <p:cxnSp>
        <p:nvCxnSpPr>
          <p:cNvPr id="60" name="slide-5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5-footer-right">
            <a:extLst>
              <a:ext uri="{FF2B5EF4-FFF2-40B4-BE49-F238E27FC236}">
                <a16:creationId xmlns:a16="http://schemas.microsoft.com/office/drawing/2014/main" id="{2710F90B-7CCE-4646-ABFA-3DC554ABBA42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competency-name-0">
            <a:extLst>
              <a:ext uri="{FF2B5EF4-FFF2-40B4-BE49-F238E27FC236}">
                <a16:creationId xmlns:a16="http://schemas.microsoft.com/office/drawing/2014/main" id="{273F7B86-93D4-43AB-AAA1-2323CD8C2EE2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Minimización de datos</a:t>
            </a:r>
          </a:p>
        </p:txBody>
      </p:sp>
      <p:sp>
        <p:nvSpPr>
          <p:cNvPr id="6" name="competency-use-0">
            <a:extLst>
              <a:ext uri="{FF2B5EF4-FFF2-40B4-BE49-F238E27FC236}">
                <a16:creationId xmlns:a16="http://schemas.microsoft.com/office/drawing/2014/main" id="{CB1D08C2-8074-4BF6-9DF9-D508EF966375}"/>
              </a:ext>
            </a:extLst>
          </p:cNvPr>
          <p:cNvSpPr>
            <a:spLocks noGrp="1"/>
          </p:cNvSpPr>
          <p:nvPr/>
        </p:nvSpPr>
        <p:spPr>
          <a:xfrm>
            <a:off x="3086100" y="15049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Solo perfil y registros necesarios; sin RUT ni diagnósticos.</a:t>
            </a:r>
          </a:p>
        </p:txBody>
      </p:sp>
      <p:cxnSp>
        <p:nvCxnSpPr>
          <p:cNvPr id="65" name="competency-rule-1"/>
          <p:cNvCxnSpPr/>
          <p:nvPr/>
        </p:nvCxnSpPr>
        <p:spPr>
          <a:xfrm>
            <a:off x="533400" y="23622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competency-name-1">
            <a:extLst>
              <a:ext uri="{FF2B5EF4-FFF2-40B4-BE49-F238E27FC236}">
                <a16:creationId xmlns:a16="http://schemas.microsoft.com/office/drawing/2014/main" id="{ECCBED98-2172-46F5-9CF6-A7A81460D8C3}"/>
              </a:ext>
            </a:extLst>
          </p:cNvPr>
          <p:cNvSpPr>
            <a:spLocks noGrp="1"/>
          </p:cNvSpPr>
          <p:nvPr/>
        </p:nvSpPr>
        <p:spPr>
          <a:xfrm>
            <a:off x="533400" y="2533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Persistencia local</a:t>
            </a:r>
          </a:p>
        </p:txBody>
      </p:sp>
      <p:sp>
        <p:nvSpPr>
          <p:cNvPr id="9" name="competency-use-1">
            <a:extLst>
              <a:ext uri="{FF2B5EF4-FFF2-40B4-BE49-F238E27FC236}">
                <a16:creationId xmlns:a16="http://schemas.microsoft.com/office/drawing/2014/main" id="{C71111EA-5980-436E-87F5-0290F797222E}"/>
              </a:ext>
            </a:extLst>
          </p:cNvPr>
          <p:cNvSpPr>
            <a:spLocks noGrp="1"/>
          </p:cNvSpPr>
          <p:nvPr/>
        </p:nvSpPr>
        <p:spPr>
          <a:xfrm>
            <a:off x="3086100" y="25336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SQLite en el dispositivo; no se confirma nube ni sincronización.</a:t>
            </a:r>
          </a:p>
        </p:txBody>
      </p:sp>
      <p:cxnSp>
        <p:nvCxnSpPr>
          <p:cNvPr id="68" name="competency-rule-2"/>
          <p:cNvCxnSpPr/>
          <p:nvPr/>
        </p:nvCxnSpPr>
        <p:spPr>
          <a:xfrm>
            <a:off x="533400" y="33909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competency-name-2">
            <a:extLst>
              <a:ext uri="{FF2B5EF4-FFF2-40B4-BE49-F238E27FC236}">
                <a16:creationId xmlns:a16="http://schemas.microsoft.com/office/drawing/2014/main" id="{000D3E8D-859C-4015-890B-48D5CDB670D2}"/>
              </a:ext>
            </a:extLst>
          </p:cNvPr>
          <p:cNvSpPr>
            <a:spLocks noGrp="1"/>
          </p:cNvSpPr>
          <p:nvPr/>
        </p:nvSpPr>
        <p:spPr>
          <a:xfrm>
            <a:off x="533400" y="35623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Validación de entradas</a:t>
            </a:r>
          </a:p>
        </p:txBody>
      </p:sp>
      <p:sp>
        <p:nvSpPr>
          <p:cNvPr id="12" name="competency-use-2">
            <a:extLst>
              <a:ext uri="{FF2B5EF4-FFF2-40B4-BE49-F238E27FC236}">
                <a16:creationId xmlns:a16="http://schemas.microsoft.com/office/drawing/2014/main" id="{E5687D25-5F0A-4619-85BB-5B7610E5BFD7}"/>
              </a:ext>
            </a:extLst>
          </p:cNvPr>
          <p:cNvSpPr>
            <a:spLocks noGrp="1"/>
          </p:cNvSpPr>
          <p:nvPr/>
        </p:nvSpPr>
        <p:spPr>
          <a:xfrm>
            <a:off x="3086100" y="35623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Opciones controladas, límites numéricos y manejo seguro de errores.</a:t>
            </a:r>
          </a:p>
        </p:txBody>
      </p:sp>
      <p:sp>
        <p:nvSpPr>
          <p:cNvPr id="16" name="interests-panel">
            <a:extLst>
              <a:ext uri="{FF2B5EF4-FFF2-40B4-BE49-F238E27FC236}">
                <a16:creationId xmlns:a16="http://schemas.microsoft.com/office/drawing/2014/main" id="{E4293818-6E7A-48EE-940A-96388F420431}"/>
              </a:ext>
            </a:extLst>
          </p:cNvPr>
          <p:cNvSpPr>
            <a:spLocks noGrp="1"/>
          </p:cNvSpPr>
          <p:nvPr/>
        </p:nvSpPr>
        <p:spPr>
          <a:xfrm>
            <a:off x="7791450" y="1504950"/>
            <a:ext cx="3867150" cy="4000500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interests-title">
            <a:extLst>
              <a:ext uri="{FF2B5EF4-FFF2-40B4-BE49-F238E27FC236}">
                <a16:creationId xmlns:a16="http://schemas.microsoft.com/office/drawing/2014/main" id="{08B71BF3-9798-4B62-BBE1-4B639443098A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Controles por confirmar</a:t>
            </a:r>
          </a:p>
        </p:txBody>
      </p:sp>
      <p:sp>
        <p:nvSpPr>
          <p:cNvPr id="18" name="interests-list">
            <a:extLst>
              <a:ext uri="{FF2B5EF4-FFF2-40B4-BE49-F238E27FC236}">
                <a16:creationId xmlns:a16="http://schemas.microsoft.com/office/drawing/2014/main" id="{4977D081-9334-4305-9816-5F32396C6B09}"/>
              </a:ext>
            </a:extLst>
          </p:cNvPr>
          <p:cNvSpPr>
            <a:spLocks noGrp="1"/>
          </p:cNvSpPr>
          <p:nvPr/>
        </p:nvSpPr>
        <p:spPr>
          <a:xfrm>
            <a:off x="8096250" y="2457450"/>
            <a:ext cx="32575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Cifrado local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Bloqueo o autenticación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Copias de respaldo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Pruebas de seguridad</a:t>
            </a:r>
          </a:p>
        </p:txBody>
      </p:sp>
      <p:cxnSp>
        <p:nvCxnSpPr>
          <p:cNvPr id="77" name="interests-rule"/>
          <p:cNvCxnSpPr/>
          <p:nvPr/>
        </p:nvCxnSpPr>
        <p:spPr>
          <a:xfrm>
            <a:off x="8096250" y="4057650"/>
            <a:ext cx="325755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0" name="interests-learning">
            <a:extLst>
              <a:ext uri="{FF2B5EF4-FFF2-40B4-BE49-F238E27FC236}">
                <a16:creationId xmlns:a16="http://schemas.microsoft.com/office/drawing/2014/main" id="{144D458D-07EB-4C98-A6B4-2A02CE3FDE19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32575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Se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decidirán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según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el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modelo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de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datos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. En Fase 1 son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medidas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planificadas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, no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controles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A6370"/>
                </a:solidFill>
                <a:latin typeface="Arial"/>
                <a:ea typeface="Arial"/>
                <a:cs typeface="Arial"/>
              </a:rPr>
              <a:t>implementados</a:t>
            </a:r>
            <a:r>
              <a:rPr sz="1275" b="0" dirty="0">
                <a:solidFill>
                  <a:srgbClr val="5A63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1209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5-title">
            <a:extLst>
              <a:ext uri="{FF2B5EF4-FFF2-40B4-BE49-F238E27FC236}">
                <a16:creationId xmlns:a16="http://schemas.microsoft.com/office/drawing/2014/main" id="{5F4785F0-6784-43D0-8F35-3FFFCCB8C0FB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Modelo de negocio preliminar: validar antes de monetizar</a:t>
            </a:r>
          </a:p>
        </p:txBody>
      </p:sp>
      <p:cxnSp>
        <p:nvCxnSpPr>
          <p:cNvPr id="60" name="slide-5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5-footer-right">
            <a:extLst>
              <a:ext uri="{FF2B5EF4-FFF2-40B4-BE49-F238E27FC236}">
                <a16:creationId xmlns:a16="http://schemas.microsoft.com/office/drawing/2014/main" id="{2710F90B-7CCE-4646-ABFA-3DC554ABBA42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competency-name-0">
            <a:extLst>
              <a:ext uri="{FF2B5EF4-FFF2-40B4-BE49-F238E27FC236}">
                <a16:creationId xmlns:a16="http://schemas.microsoft.com/office/drawing/2014/main" id="{273F7B86-93D4-43AB-AAA1-2323CD8C2EE2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Segmento</a:t>
            </a:r>
          </a:p>
        </p:txBody>
      </p:sp>
      <p:sp>
        <p:nvSpPr>
          <p:cNvPr id="6" name="competency-use-0">
            <a:extLst>
              <a:ext uri="{FF2B5EF4-FFF2-40B4-BE49-F238E27FC236}">
                <a16:creationId xmlns:a16="http://schemas.microsoft.com/office/drawing/2014/main" id="{CB1D08C2-8074-4BF6-9DF9-D508EF966375}"/>
              </a:ext>
            </a:extLst>
          </p:cNvPr>
          <p:cNvSpPr>
            <a:spLocks noGrp="1"/>
          </p:cNvSpPr>
          <p:nvPr/>
        </p:nvSpPr>
        <p:spPr>
          <a:xfrm>
            <a:off x="3086100" y="15049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Adultos principiantes o intermedios con acceso a gimnasio estándar.</a:t>
            </a:r>
          </a:p>
        </p:txBody>
      </p:sp>
      <p:cxnSp>
        <p:nvCxnSpPr>
          <p:cNvPr id="65" name="competency-rule-1"/>
          <p:cNvCxnSpPr/>
          <p:nvPr/>
        </p:nvCxnSpPr>
        <p:spPr>
          <a:xfrm>
            <a:off x="533400" y="23622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competency-name-1">
            <a:extLst>
              <a:ext uri="{FF2B5EF4-FFF2-40B4-BE49-F238E27FC236}">
                <a16:creationId xmlns:a16="http://schemas.microsoft.com/office/drawing/2014/main" id="{ECCBED98-2172-46F5-9CF6-A7A81460D8C3}"/>
              </a:ext>
            </a:extLst>
          </p:cNvPr>
          <p:cNvSpPr>
            <a:spLocks noGrp="1"/>
          </p:cNvSpPr>
          <p:nvPr/>
        </p:nvSpPr>
        <p:spPr>
          <a:xfrm>
            <a:off x="533400" y="2533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Propuesta de valor</a:t>
            </a:r>
          </a:p>
        </p:txBody>
      </p:sp>
      <p:sp>
        <p:nvSpPr>
          <p:cNvPr id="9" name="competency-use-1">
            <a:extLst>
              <a:ext uri="{FF2B5EF4-FFF2-40B4-BE49-F238E27FC236}">
                <a16:creationId xmlns:a16="http://schemas.microsoft.com/office/drawing/2014/main" id="{C71111EA-5980-436E-87F5-0290F797222E}"/>
              </a:ext>
            </a:extLst>
          </p:cNvPr>
          <p:cNvSpPr>
            <a:spLocks noGrp="1"/>
          </p:cNvSpPr>
          <p:nvPr/>
        </p:nvSpPr>
        <p:spPr>
          <a:xfrm>
            <a:off x="3086100" y="25336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Planificación personalizada, seguimiento semanal e historial en una sola app.</a:t>
            </a:r>
          </a:p>
        </p:txBody>
      </p:sp>
      <p:cxnSp>
        <p:nvCxnSpPr>
          <p:cNvPr id="68" name="competency-rule-2"/>
          <p:cNvCxnSpPr/>
          <p:nvPr/>
        </p:nvCxnSpPr>
        <p:spPr>
          <a:xfrm>
            <a:off x="533400" y="33909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competency-name-2">
            <a:extLst>
              <a:ext uri="{FF2B5EF4-FFF2-40B4-BE49-F238E27FC236}">
                <a16:creationId xmlns:a16="http://schemas.microsoft.com/office/drawing/2014/main" id="{000D3E8D-859C-4015-890B-48D5CDB670D2}"/>
              </a:ext>
            </a:extLst>
          </p:cNvPr>
          <p:cNvSpPr>
            <a:spLocks noGrp="1"/>
          </p:cNvSpPr>
          <p:nvPr/>
        </p:nvSpPr>
        <p:spPr>
          <a:xfrm>
            <a:off x="533400" y="35623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Canal y relación</a:t>
            </a:r>
          </a:p>
        </p:txBody>
      </p:sp>
      <p:sp>
        <p:nvSpPr>
          <p:cNvPr id="12" name="competency-use-2">
            <a:extLst>
              <a:ext uri="{FF2B5EF4-FFF2-40B4-BE49-F238E27FC236}">
                <a16:creationId xmlns:a16="http://schemas.microsoft.com/office/drawing/2014/main" id="{E5687D25-5F0A-4619-85BB-5B7610E5BFD7}"/>
              </a:ext>
            </a:extLst>
          </p:cNvPr>
          <p:cNvSpPr>
            <a:spLocks noGrp="1"/>
          </p:cNvSpPr>
          <p:nvPr/>
        </p:nvSpPr>
        <p:spPr>
          <a:xfrm>
            <a:off x="3086100" y="35623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Aplicación Android para uso autónomo mediante configuración guiada.</a:t>
            </a:r>
          </a:p>
        </p:txBody>
      </p:sp>
      <p:cxnSp>
        <p:nvCxnSpPr>
          <p:cNvPr id="71" name="competency-rule-3"/>
          <p:cNvCxnSpPr/>
          <p:nvPr/>
        </p:nvCxnSpPr>
        <p:spPr>
          <a:xfrm>
            <a:off x="533400" y="4419600"/>
            <a:ext cx="67056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4" name="competency-name-3">
            <a:extLst>
              <a:ext uri="{FF2B5EF4-FFF2-40B4-BE49-F238E27FC236}">
                <a16:creationId xmlns:a16="http://schemas.microsoft.com/office/drawing/2014/main" id="{330E1F1C-6EED-4E96-A5C7-7D67197F2146}"/>
              </a:ext>
            </a:extLst>
          </p:cNvPr>
          <p:cNvSpPr>
            <a:spLocks noGrp="1"/>
          </p:cNvSpPr>
          <p:nvPr/>
        </p:nvSpPr>
        <p:spPr>
          <a:xfrm>
            <a:off x="533400" y="45910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Recursos y costos</a:t>
            </a:r>
          </a:p>
        </p:txBody>
      </p:sp>
      <p:sp>
        <p:nvSpPr>
          <p:cNvPr id="15" name="competency-use-3">
            <a:extLst>
              <a:ext uri="{FF2B5EF4-FFF2-40B4-BE49-F238E27FC236}">
                <a16:creationId xmlns:a16="http://schemas.microsoft.com/office/drawing/2014/main" id="{17DF15E6-7C60-428B-A4EF-0F1DBC989904}"/>
              </a:ext>
            </a:extLst>
          </p:cNvPr>
          <p:cNvSpPr>
            <a:spLocks noGrp="1"/>
          </p:cNvSpPr>
          <p:nvPr/>
        </p:nvSpPr>
        <p:spPr>
          <a:xfrm>
            <a:off x="3086100" y="4591050"/>
            <a:ext cx="4152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Desarrollo, catálogo, mantenimiento y eventuales servicios externos.</a:t>
            </a:r>
          </a:p>
        </p:txBody>
      </p:sp>
      <p:sp>
        <p:nvSpPr>
          <p:cNvPr id="16" name="interests-panel">
            <a:extLst>
              <a:ext uri="{FF2B5EF4-FFF2-40B4-BE49-F238E27FC236}">
                <a16:creationId xmlns:a16="http://schemas.microsoft.com/office/drawing/2014/main" id="{E4293818-6E7A-48EE-940A-96388F420431}"/>
              </a:ext>
            </a:extLst>
          </p:cNvPr>
          <p:cNvSpPr>
            <a:spLocks noGrp="1"/>
          </p:cNvSpPr>
          <p:nvPr/>
        </p:nvSpPr>
        <p:spPr>
          <a:xfrm>
            <a:off x="7791450" y="1504950"/>
            <a:ext cx="3867150" cy="4000500"/>
          </a:xfrm>
          <a:prstGeom prst="rect">
            <a:avLst/>
          </a:prstGeom>
          <a:solidFill>
            <a:srgbClr val="F5F7F9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interests-title">
            <a:extLst>
              <a:ext uri="{FF2B5EF4-FFF2-40B4-BE49-F238E27FC236}">
                <a16:creationId xmlns:a16="http://schemas.microsoft.com/office/drawing/2014/main" id="{08B71BF3-9798-4B62-BBE1-4B639443098A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57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MVP académico</a:t>
            </a:r>
          </a:p>
        </p:txBody>
      </p:sp>
      <p:sp>
        <p:nvSpPr>
          <p:cNvPr id="18" name="interests-list">
            <a:extLst>
              <a:ext uri="{FF2B5EF4-FFF2-40B4-BE49-F238E27FC236}">
                <a16:creationId xmlns:a16="http://schemas.microsoft.com/office/drawing/2014/main" id="{4977D081-9334-4305-9816-5F32396C6B09}"/>
              </a:ext>
            </a:extLst>
          </p:cNvPr>
          <p:cNvSpPr>
            <a:spLocks noGrp="1"/>
          </p:cNvSpPr>
          <p:nvPr/>
        </p:nvSpPr>
        <p:spPr>
          <a:xfrm>
            <a:off x="8096250" y="2457450"/>
            <a:ext cx="32575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Objetivo actual: validación funcional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Ingresos: no definidos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Monetización: fuera del alcance</a:t>
            </a:r>
          </a:p>
        </p:txBody>
      </p:sp>
      <p:cxnSp>
        <p:nvCxnSpPr>
          <p:cNvPr id="77" name="interests-rule"/>
          <p:cNvCxnSpPr/>
          <p:nvPr/>
        </p:nvCxnSpPr>
        <p:spPr>
          <a:xfrm>
            <a:off x="8096250" y="4057650"/>
            <a:ext cx="325755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0" name="interests-learning">
            <a:extLst>
              <a:ext uri="{FF2B5EF4-FFF2-40B4-BE49-F238E27FC236}">
                <a16:creationId xmlns:a16="http://schemas.microsoft.com/office/drawing/2014/main" id="{144D458D-07EB-4C98-A6B4-2A02CE3FDE19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32575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El modelo comercial no está validado; cualquier alternativa futura se evaluará después de probar el producto.</a:t>
            </a:r>
          </a:p>
        </p:txBody>
      </p:sp>
    </p:spTree>
    <p:extLst>
      <p:ext uri="{BB962C8B-B14F-4D97-AF65-F5344CB8AC3E}">
        <p14:creationId xmlns:p14="http://schemas.microsoft.com/office/powerpoint/2010/main" val="1711209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eyebrow">
            <a:extLst>
              <a:ext uri="{FF2B5EF4-FFF2-40B4-BE49-F238E27FC236}">
                <a16:creationId xmlns:a16="http://schemas.microsoft.com/office/drawing/2014/main" id="{3A831895-2D3B-4E7D-ACAC-FD3B6D103606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1">
                <a:solidFill>
                  <a:srgbClr val="155B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5BC4"/>
                </a:solidFill>
                <a:latin typeface="Arial"/>
                <a:ea typeface="Arial"/>
                <a:cs typeface="Arial"/>
              </a:rPr>
              <a:t>MOCKUP CONCEPTUAL · FASE 1</a:t>
            </a:r>
          </a:p>
        </p:txBody>
      </p:sp>
      <p:sp>
        <p:nvSpPr>
          <p:cNvPr id="2" name="cover-accent">
            <a:extLst>
              <a:ext uri="{FF2B5EF4-FFF2-40B4-BE49-F238E27FC236}">
                <a16:creationId xmlns:a16="http://schemas.microsoft.com/office/drawing/2014/main" id="{42DD3C39-822E-42CE-B8B0-384917493874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76200" cy="24955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EDE486E5-AA7A-4620-AF83-06D6C399EB6B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495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Mockup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D83F0857-1769-4D9A-A404-88E561EAF2A5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48577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Kinetia: configuración, plan semanal y registro de sesión.</a:t>
            </a:r>
          </a:p>
        </p:txBody>
      </p:sp>
      <p:sp>
        <p:nvSpPr>
          <p:cNvPr id="5" name="cover-student">
            <a:extLst>
              <a:ext uri="{FF2B5EF4-FFF2-40B4-BE49-F238E27FC236}">
                <a16:creationId xmlns:a16="http://schemas.microsoft.com/office/drawing/2014/main" id="{87BDDFEA-3660-410B-B9BA-8F9109418B29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Estado del diseño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076350F9-9131-4EDC-9DA3-B942CBEE6603}"/>
              </a:ext>
            </a:extLst>
          </p:cNvPr>
          <p:cNvSpPr>
            <a:spLocks noGrp="1"/>
          </p:cNvSpPr>
          <p:nvPr/>
        </p:nvSpPr>
        <p:spPr>
          <a:xfrm>
            <a:off x="838200" y="4829175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Propuesta no implementada</a:t>
            </a:r>
          </a:p>
          <a:p>
            <a:pPr algn="l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El diseño visual y las pruebas de usabilidad se realizarán durante el desarrollo.</a:t>
            </a:r>
          </a:p>
        </p:txBody>
      </p:sp>
      <p:sp>
        <p:nvSpPr>
          <p:cNvPr id="9" name="cover-illustrative-label">
            <a:extLst>
              <a:ext uri="{FF2B5EF4-FFF2-40B4-BE49-F238E27FC236}">
                <a16:creationId xmlns:a16="http://schemas.microsoft.com/office/drawing/2014/main" id="{6AD0567C-4DF3-4339-AEEB-5BB53B0AC3A3}"/>
              </a:ext>
            </a:extLst>
          </p:cNvPr>
          <p:cNvSpPr>
            <a:spLocks noGrp="1"/>
          </p:cNvSpPr>
          <p:nvPr/>
        </p:nvSpPr>
        <p:spPr>
          <a:xfrm>
            <a:off x="9906000" y="58864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000"/>
          </a:bodyPr>
          <a:lstStyle/>
          <a:p>
            <a:pPr algn="r">
              <a:buNone/>
              <a:defRPr sz="7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Mockup conceptual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FC733E0-F5F4-5B34-1E73-3ACE2E7C7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550" y="1662254"/>
            <a:ext cx="6043188" cy="402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22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9-title">
            <a:extLst>
              <a:ext uri="{FF2B5EF4-FFF2-40B4-BE49-F238E27FC236}">
                <a16:creationId xmlns:a16="http://schemas.microsoft.com/office/drawing/2014/main" id="{188428F6-88D2-4B6C-8002-6A8A2911511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Conclusión: la Fase 1 deja una ruta viable y verificable</a:t>
            </a:r>
          </a:p>
        </p:txBody>
      </p:sp>
      <p:cxnSp>
        <p:nvCxnSpPr>
          <p:cNvPr id="37" name="slide-9-title-rule"/>
          <p:cNvCxnSpPr/>
          <p:nvPr/>
        </p:nvCxnSpPr>
        <p:spPr>
          <a:xfrm>
            <a:off x="533400" y="1104900"/>
            <a:ext cx="111252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slide-9-footer-right">
            <a:extLst>
              <a:ext uri="{FF2B5EF4-FFF2-40B4-BE49-F238E27FC236}">
                <a16:creationId xmlns:a16="http://schemas.microsoft.com/office/drawing/2014/main" id="{0C63DFE7-686C-4D9B-9526-C6CF25C3F023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636"/>
          </a:bodyPr>
          <a:lstStyle/>
          <a:p>
            <a:pPr algn="r">
              <a:buNone/>
              <a:defRPr sz="82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cxnSp>
        <p:nvCxnSpPr>
          <p:cNvPr id="40" name="evidence-line"/>
          <p:cNvCxnSpPr/>
          <p:nvPr/>
        </p:nvCxnSpPr>
        <p:spPr>
          <a:xfrm>
            <a:off x="1352550" y="2457450"/>
            <a:ext cx="9315450" cy="0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6" name="evidence-node-1">
            <a:extLst>
              <a:ext uri="{FF2B5EF4-FFF2-40B4-BE49-F238E27FC236}">
                <a16:creationId xmlns:a16="http://schemas.microsoft.com/office/drawing/2014/main" id="{B13AAE36-4A67-42C7-AB26-842748030F03}"/>
              </a:ext>
            </a:extLst>
          </p:cNvPr>
          <p:cNvSpPr>
            <a:spLocks noGrp="1"/>
          </p:cNvSpPr>
          <p:nvPr/>
        </p:nvSpPr>
        <p:spPr>
          <a:xfrm>
            <a:off x="1390650" y="2324100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evidence-node-2">
            <a:extLst>
              <a:ext uri="{FF2B5EF4-FFF2-40B4-BE49-F238E27FC236}">
                <a16:creationId xmlns:a16="http://schemas.microsoft.com/office/drawing/2014/main" id="{86A48A9B-2104-4C82-8A16-5DC68433065D}"/>
              </a:ext>
            </a:extLst>
          </p:cNvPr>
          <p:cNvSpPr>
            <a:spLocks noGrp="1"/>
          </p:cNvSpPr>
          <p:nvPr/>
        </p:nvSpPr>
        <p:spPr>
          <a:xfrm>
            <a:off x="4343400" y="2324100"/>
            <a:ext cx="266700" cy="26670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evidence-node-3">
            <a:extLst>
              <a:ext uri="{FF2B5EF4-FFF2-40B4-BE49-F238E27FC236}">
                <a16:creationId xmlns:a16="http://schemas.microsoft.com/office/drawing/2014/main" id="{4F6F33B9-7945-4406-89CD-A471DF3D3B03}"/>
              </a:ext>
            </a:extLst>
          </p:cNvPr>
          <p:cNvSpPr>
            <a:spLocks noGrp="1"/>
          </p:cNvSpPr>
          <p:nvPr/>
        </p:nvSpPr>
        <p:spPr>
          <a:xfrm>
            <a:off x="7296150" y="2324100"/>
            <a:ext cx="266700" cy="2667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evidence-node-4">
            <a:extLst>
              <a:ext uri="{FF2B5EF4-FFF2-40B4-BE49-F238E27FC236}">
                <a16:creationId xmlns:a16="http://schemas.microsoft.com/office/drawing/2014/main" id="{EBB0F7EC-AF3A-4721-98FB-1A15B4B35C96}"/>
              </a:ext>
            </a:extLst>
          </p:cNvPr>
          <p:cNvSpPr>
            <a:spLocks noGrp="1"/>
          </p:cNvSpPr>
          <p:nvPr/>
        </p:nvSpPr>
        <p:spPr>
          <a:xfrm>
            <a:off x="10248900" y="2324100"/>
            <a:ext cx="266700" cy="26670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evidence-stage-0">
            <a:extLst>
              <a:ext uri="{FF2B5EF4-FFF2-40B4-BE49-F238E27FC236}">
                <a16:creationId xmlns:a16="http://schemas.microsoft.com/office/drawing/2014/main" id="{13D0136E-C6A5-4C62-9EA7-5CF6E1A68EB2}"/>
              </a:ext>
            </a:extLst>
          </p:cNvPr>
          <p:cNvSpPr>
            <a:spLocks noGrp="1"/>
          </p:cNvSpPr>
          <p:nvPr/>
        </p:nvSpPr>
        <p:spPr>
          <a:xfrm>
            <a:off x="381000" y="14478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AVANCE</a:t>
            </a:r>
          </a:p>
        </p:txBody>
      </p:sp>
      <p:sp>
        <p:nvSpPr>
          <p:cNvPr id="11" name="evidence-title-0">
            <a:extLst>
              <a:ext uri="{FF2B5EF4-FFF2-40B4-BE49-F238E27FC236}">
                <a16:creationId xmlns:a16="http://schemas.microsoft.com/office/drawing/2014/main" id="{4237CC58-C07F-4E67-934F-E0B240A081EB}"/>
              </a:ext>
            </a:extLst>
          </p:cNvPr>
          <p:cNvSpPr>
            <a:spLocks noGrp="1"/>
          </p:cNvSpPr>
          <p:nvPr/>
        </p:nvSpPr>
        <p:spPr>
          <a:xfrm>
            <a:off x="381000" y="175260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Requisitos y alcance</a:t>
            </a:r>
          </a:p>
        </p:txBody>
      </p:sp>
      <p:sp>
        <p:nvSpPr>
          <p:cNvPr id="12" name="evidence-copy-0">
            <a:extLst>
              <a:ext uri="{FF2B5EF4-FFF2-40B4-BE49-F238E27FC236}">
                <a16:creationId xmlns:a16="http://schemas.microsoft.com/office/drawing/2014/main" id="{09869D7F-7132-4A88-9903-4F061A82AA1B}"/>
              </a:ext>
            </a:extLst>
          </p:cNvPr>
          <p:cNvSpPr>
            <a:spLocks noGrp="1"/>
          </p:cNvSpPr>
          <p:nvPr/>
        </p:nvSpPr>
        <p:spPr>
          <a:xfrm>
            <a:off x="381000" y="285750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Problema, usuarios, requerimientos y criterios.</a:t>
            </a:r>
          </a:p>
        </p:txBody>
      </p:sp>
      <p:sp>
        <p:nvSpPr>
          <p:cNvPr id="13" name="evidence-stage-1">
            <a:extLst>
              <a:ext uri="{FF2B5EF4-FFF2-40B4-BE49-F238E27FC236}">
                <a16:creationId xmlns:a16="http://schemas.microsoft.com/office/drawing/2014/main" id="{FBCF3404-7061-47D3-8B27-47A3E027C564}"/>
              </a:ext>
            </a:extLst>
          </p:cNvPr>
          <p:cNvSpPr>
            <a:spLocks noGrp="1"/>
          </p:cNvSpPr>
          <p:nvPr/>
        </p:nvSpPr>
        <p:spPr>
          <a:xfrm>
            <a:off x="3333750" y="14478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AVANCE</a:t>
            </a:r>
          </a:p>
        </p:txBody>
      </p:sp>
      <p:sp>
        <p:nvSpPr>
          <p:cNvPr id="14" name="evidence-title-1">
            <a:extLst>
              <a:ext uri="{FF2B5EF4-FFF2-40B4-BE49-F238E27FC236}">
                <a16:creationId xmlns:a16="http://schemas.microsoft.com/office/drawing/2014/main" id="{4C9C47F7-79A6-4467-A611-25037C2EB883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667"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Prototipo y diseño técnico</a:t>
            </a:r>
          </a:p>
        </p:txBody>
      </p:sp>
      <p:sp>
        <p:nvSpPr>
          <p:cNvPr id="15" name="evidence-copy-1">
            <a:extLst>
              <a:ext uri="{FF2B5EF4-FFF2-40B4-BE49-F238E27FC236}">
                <a16:creationId xmlns:a16="http://schemas.microsoft.com/office/drawing/2014/main" id="{004C33FA-8452-4018-92A5-91C8CB2222BB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Flujos, arquitectura, datos y evaluación del generador.</a:t>
            </a:r>
          </a:p>
        </p:txBody>
      </p:sp>
      <p:sp>
        <p:nvSpPr>
          <p:cNvPr id="16" name="evidence-stage-2">
            <a:extLst>
              <a:ext uri="{FF2B5EF4-FFF2-40B4-BE49-F238E27FC236}">
                <a16:creationId xmlns:a16="http://schemas.microsoft.com/office/drawing/2014/main" id="{5CA21B73-3F53-4B25-8E0C-35B865485A79}"/>
              </a:ext>
            </a:extLst>
          </p:cNvPr>
          <p:cNvSpPr>
            <a:spLocks noGrp="1"/>
          </p:cNvSpPr>
          <p:nvPr/>
        </p:nvSpPr>
        <p:spPr>
          <a:xfrm>
            <a:off x="6286500" y="14478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buNone/>
              <a:defRPr sz="975" b="1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370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17" name="evidence-title-2">
            <a:extLst>
              <a:ext uri="{FF2B5EF4-FFF2-40B4-BE49-F238E27FC236}">
                <a16:creationId xmlns:a16="http://schemas.microsoft.com/office/drawing/2014/main" id="{12CE79DB-9768-44DF-89F0-22ADF25C5497}"/>
              </a:ext>
            </a:extLst>
          </p:cNvPr>
          <p:cNvSpPr>
            <a:spLocks noGrp="1"/>
          </p:cNvSpPr>
          <p:nvPr/>
        </p:nvSpPr>
        <p:spPr>
          <a:xfrm>
            <a:off x="6286500" y="175260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Prototipo funcional</a:t>
            </a:r>
          </a:p>
        </p:txBody>
      </p:sp>
      <p:sp>
        <p:nvSpPr>
          <p:cNvPr id="18" name="evidence-copy-2">
            <a:extLst>
              <a:ext uri="{FF2B5EF4-FFF2-40B4-BE49-F238E27FC236}">
                <a16:creationId xmlns:a16="http://schemas.microsoft.com/office/drawing/2014/main" id="{43CDF17F-5132-4038-91D5-3C22868A62ED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Perfil, rutina, planificación y registro de sesiones.</a:t>
            </a:r>
          </a:p>
        </p:txBody>
      </p:sp>
      <p:sp>
        <p:nvSpPr>
          <p:cNvPr id="19" name="evidence-stage-3">
            <a:extLst>
              <a:ext uri="{FF2B5EF4-FFF2-40B4-BE49-F238E27FC236}">
                <a16:creationId xmlns:a16="http://schemas.microsoft.com/office/drawing/2014/main" id="{334AC1DD-960D-45F9-8AE2-D9B8A37F1771}"/>
              </a:ext>
            </a:extLst>
          </p:cNvPr>
          <p:cNvSpPr>
            <a:spLocks noGrp="1"/>
          </p:cNvSpPr>
          <p:nvPr/>
        </p:nvSpPr>
        <p:spPr>
          <a:xfrm>
            <a:off x="9239250" y="14478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ctr">
              <a:buNone/>
              <a:defRPr sz="975" b="1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370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20" name="evidence-title-3">
            <a:extLst>
              <a:ext uri="{FF2B5EF4-FFF2-40B4-BE49-F238E27FC236}">
                <a16:creationId xmlns:a16="http://schemas.microsoft.com/office/drawing/2014/main" id="{0D5AE9A2-4169-4722-8AE1-AF2CCB5E5C64}"/>
              </a:ext>
            </a:extLst>
          </p:cNvPr>
          <p:cNvSpPr>
            <a:spLocks noGrp="1"/>
          </p:cNvSpPr>
          <p:nvPr/>
        </p:nvSpPr>
        <p:spPr>
          <a:xfrm>
            <a:off x="9239250" y="175260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667"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Pruebas y documentación</a:t>
            </a:r>
          </a:p>
        </p:txBody>
      </p:sp>
      <p:sp>
        <p:nvSpPr>
          <p:cNvPr id="21" name="evidence-copy-3">
            <a:extLst>
              <a:ext uri="{FF2B5EF4-FFF2-40B4-BE49-F238E27FC236}">
                <a16:creationId xmlns:a16="http://schemas.microsoft.com/office/drawing/2014/main" id="{8ACA0AE2-8394-47D1-99A6-A869A0255869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228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0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Resultados, mejoras, manual técnico y de usuario.</a:t>
            </a:r>
          </a:p>
        </p:txBody>
      </p:sp>
      <p:sp>
        <p:nvSpPr>
          <p:cNvPr id="22" name="closing-band">
            <a:extLst>
              <a:ext uri="{FF2B5EF4-FFF2-40B4-BE49-F238E27FC236}">
                <a16:creationId xmlns:a16="http://schemas.microsoft.com/office/drawing/2014/main" id="{44D12FA9-FE1B-4A50-80C4-FB111FB8BE83}"/>
              </a:ext>
            </a:extLst>
          </p:cNvPr>
          <p:cNvSpPr>
            <a:spLocks noGrp="1"/>
          </p:cNvSpPr>
          <p:nvPr/>
        </p:nvSpPr>
        <p:spPr>
          <a:xfrm>
            <a:off x="533400" y="3905250"/>
            <a:ext cx="11125200" cy="13525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closing-main">
            <a:extLst>
              <a:ext uri="{FF2B5EF4-FFF2-40B4-BE49-F238E27FC236}">
                <a16:creationId xmlns:a16="http://schemas.microsoft.com/office/drawing/2014/main" id="{5C8F508A-0F2D-4633-886B-8C2E9B042243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2"/>
          </a:bodyPr>
          <a:lstStyle/>
          <a:p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Kinetia queda definido como un proyecto pertinente, acotado y factible para un desarrollo individual.</a:t>
            </a:r>
          </a:p>
        </p:txBody>
      </p:sp>
      <p:sp>
        <p:nvSpPr>
          <p:cNvPr id="24" name="closing-pending">
            <a:extLst>
              <a:ext uri="{FF2B5EF4-FFF2-40B4-BE49-F238E27FC236}">
                <a16:creationId xmlns:a16="http://schemas.microsoft.com/office/drawing/2014/main" id="{E5F8E95B-9BD2-425F-8CD7-9E2A97D3B572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Siguientes decisiones: validar la pila, definir el generador, refinar el mockup e implementar los controles de seguridad.</a:t>
            </a:r>
          </a:p>
        </p:txBody>
      </p:sp>
      <p:sp>
        <p:nvSpPr>
          <p:cNvPr id="25" name="references">
            <a:extLst>
              <a:ext uri="{FF2B5EF4-FFF2-40B4-BE49-F238E27FC236}">
                <a16:creationId xmlns:a16="http://schemas.microsoft.com/office/drawing/2014/main" id="{4349A1ED-6477-4E73-A4FB-2E8B9ABA0002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750" b="0">
                <a:solidFill>
                  <a:srgbClr val="5A63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A6370"/>
                </a:solidFill>
                <a:latin typeface="Arial"/>
                <a:ea typeface="Arial"/>
                <a:cs typeface="Arial"/>
              </a:rPr>
              <a:t>Referencias: OMS (2020), WHO Guidelines on Physical Activity and Sedentary Behaviour · Strain et al. (2024), The Lancet Global Health · Glynn et al. (2014), SMART MOVE · Documento 1.5 y Calendario Capstone 2026.</a:t>
            </a:r>
          </a:p>
        </p:txBody>
      </p:sp>
    </p:spTree>
    <p:extLst>
      <p:ext uri="{BB962C8B-B14F-4D97-AF65-F5344CB8AC3E}">
        <p14:creationId xmlns:p14="http://schemas.microsoft.com/office/powerpoint/2010/main" val="6903915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2205</Words>
  <Application>Microsoft Office PowerPoint</Application>
  <DocSecurity>0</DocSecurity>
  <PresentationFormat>Panorámica</PresentationFormat>
  <Paragraphs>309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KARLA ANDREA ACUNA BRAVO</cp:lastModifiedBy>
  <cp:revision>5</cp:revision>
  <dcterms:created xsi:type="dcterms:W3CDTF">2026-08-31T21:44:41Z</dcterms:created>
  <dcterms:modified xsi:type="dcterms:W3CDTF">2026-08-31T22:31:31Z</dcterms:modified>
</cp:coreProperties>
</file>